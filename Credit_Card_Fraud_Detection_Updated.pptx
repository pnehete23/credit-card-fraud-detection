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0" r:id="rId21"/>
    <p:sldId id="271" r:id="rId22"/>
    <p:sldId id="260" r:id="rId6"/>
    <p:sldId id="261" r:id="rId7"/>
    <p:sldId id="272" r:id="rId23"/>
    <p:sldId id="277" r:id="rId28"/>
    <p:sldId id="262" r:id="rId8"/>
    <p:sldId id="273" r:id="rId24"/>
    <p:sldId id="263" r:id="rId9"/>
    <p:sldId id="276" r:id="rId27"/>
    <p:sldId id="274" r:id="rId25"/>
    <p:sldId id="275" r:id="rId26"/>
    <p:sldId id="264" r:id="rId10"/>
    <p:sldId id="278" r:id="rId29"/>
    <p:sldId id="279" r:id="rId3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8" d="100"/>
          <a:sy n="168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FFB90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XGBoost</c:v>
                </c:pt>
                <c:pt idx="1">
                  <c:v>Random Forest</c:v>
                </c:pt>
                <c:pt idx="2">
                  <c:v>Neural Network</c:v>
                </c:pt>
                <c:pt idx="3">
                  <c:v>Autoencoder</c:v>
                </c:pt>
                <c:pt idx="4">
                  <c:v>Logistic Regression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0.83520000000000005</c:v>
                </c:pt>
                <c:pt idx="1">
                  <c:v>0.81969999999999998</c:v>
                </c:pt>
                <c:pt idx="2">
                  <c:v>0.69769999999999999</c:v>
                </c:pt>
                <c:pt idx="3">
                  <c:v>0.55169999999999997</c:v>
                </c:pt>
                <c:pt idx="4">
                  <c:v>8.2500000000000004E-2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15-524C-A21A-308FD9B588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0078D4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XGBoost</c:v>
                </c:pt>
                <c:pt idx="1">
                  <c:v>Random Forest</c:v>
                </c:pt>
                <c:pt idx="2">
                  <c:v>Neural Network</c:v>
                </c:pt>
                <c:pt idx="3">
                  <c:v>Autoencoder</c:v>
                </c:pt>
                <c:pt idx="4">
                  <c:v>Logistic Regression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0.97130000000000005</c:v>
                </c:pt>
                <c:pt idx="1">
                  <c:v>0.96230000000000004</c:v>
                </c:pt>
                <c:pt idx="2">
                  <c:v>0.93930000000000002</c:v>
                </c:pt>
                <c:pt idx="3">
                  <c:v>0.95230000000000004</c:v>
                </c:pt>
                <c:pt idx="4">
                  <c:v>0.95750000000000002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515-524C-A21A-308FD9B5883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07C1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XGBoost</c:v>
                </c:pt>
                <c:pt idx="1">
                  <c:v>Random Forest</c:v>
                </c:pt>
                <c:pt idx="2">
                  <c:v>Neural Network</c:v>
                </c:pt>
                <c:pt idx="3">
                  <c:v>Autoencoder</c:v>
                </c:pt>
                <c:pt idx="4">
                  <c:v>Logistic Regression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0.87360000000000004</c:v>
                </c:pt>
                <c:pt idx="1">
                  <c:v>0.85229999999999995</c:v>
                </c:pt>
                <c:pt idx="2">
                  <c:v>0.625</c:v>
                </c:pt>
                <c:pt idx="3">
                  <c:v>0.60760000000000003</c:v>
                </c:pt>
                <c:pt idx="4">
                  <c:v>4.3299999999999998E-2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515-524C-A21A-308FD9B588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5E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5E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338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1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2.png"/><Relationship Id="rId11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CREDIT CARD FRAUD DETECTION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2468880"/>
            <a:ext cx="2743200" cy="4572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3F2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CRISP-DM Methodology | Kaggle Dataset | 5 ML/DL Models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3F2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Pipeline: Data Collection → Feature Engineering → Model Development → Deployment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3F2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github.com/pnehete23/credit-card-fraud-detection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 &amp; BUSINESS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11480" y="9372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All Together: Complete ML Solution Using CRISP-DM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790700"/>
          </a:xfrm>
          <a:prstGeom prst="rect">
            <a:avLst/>
          </a:prstGeom>
          <a:solidFill>
            <a:srgbClr val="FFF4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91440" cy="181356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1223010" y="1203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PROBLEM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18288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card fraud costs $28.65 billion annually (Nilson Report). Financial institutions need automated, real-time detection with: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accuracy (minimize fraud losses)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Low false positives (avoid customer friction)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processing (&lt;1 second latency)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181100"/>
            <a:ext cx="3931920" cy="17754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4754880" y="1188720"/>
            <a:ext cx="91440" cy="176784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8"/>
          <p:cNvSpPr/>
          <p:nvPr/>
        </p:nvSpPr>
        <p:spPr>
          <a:xfrm>
            <a:off x="5429250" y="1219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OBJECTIVES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83480" y="18288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Build automated end-to-end ML pipeline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Compare 5 ML/DL algorithms systematically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Handle severe class imbalance (0.17% fraud)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Optimize for both precision and recall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Deploy production-ready solution</a:t>
            </a:r>
            <a:endParaRPr lang="en-US" sz="10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Provide actionable recommendations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3434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11480" y="3558540"/>
            <a:ext cx="1965960" cy="82296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490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5840" y="37566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005840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 0.80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2583180" y="3558540"/>
            <a:ext cx="1965960" cy="82296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1770" y="38023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143250" y="37414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AUC-ROC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3154680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 0.95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4754880" y="3535680"/>
            <a:ext cx="1965960" cy="82296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0610" y="380238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303520" y="37414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5303520" y="39090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 0.85</a:t>
            </a:r>
            <a:endParaRPr lang="en-US" sz="1800" dirty="0"/>
          </a:p>
        </p:txBody>
      </p:sp>
      <p:sp>
        <p:nvSpPr>
          <p:cNvPr id="27" name="Shape 20"/>
          <p:cNvSpPr/>
          <p:nvPr/>
        </p:nvSpPr>
        <p:spPr>
          <a:xfrm>
            <a:off x="6888480" y="3535680"/>
            <a:ext cx="1965960" cy="82296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0" y="3825240"/>
            <a:ext cx="320040" cy="32004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452360" y="3749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Time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7452360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60s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CRISP-DM 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Approach to ML Project Development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1325880"/>
          </a:xfrm>
          <a:prstGeom prst="rect">
            <a:avLst/>
          </a:prstGeom>
          <a:solidFill>
            <a:srgbClr val="FFF4E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Business Understanding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4360" y="1874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Define fraud detection objectives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Set success metrics (F1&gt;0.8, AUC&gt;0.95)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Identify stakeholders &amp; constraints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337560" y="1280160"/>
            <a:ext cx="2743200" cy="132588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4173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3192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Data Understanding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474720" y="1874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Kaggle dataset: 284,807 transactions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492 frauds (0.17% - severe imbalance)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28 PCA features + Amount, Time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217920" y="1280160"/>
            <a:ext cx="2743200" cy="1325880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4173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1228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Data Preparation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355080" y="18745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 scaling (StandardScaler)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SMOTE &amp; Random Undersampling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Train-test split (stratified)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57200" y="2788920"/>
            <a:ext cx="2743200" cy="13258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29260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Modeling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94360" y="3383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 algorithms: XGBoost, RF, NN, AE, LR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Hyperparameter optimization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Cross-validation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3337560" y="2788920"/>
            <a:ext cx="2743200" cy="1325880"/>
          </a:xfrm>
          <a:prstGeom prst="rect">
            <a:avLst/>
          </a:prstGeom>
          <a:solidFill>
            <a:srgbClr val="FFF9E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292608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31920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 Evaluation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3474720" y="3383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 metrics comparison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Precision-recall trade-offs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Business impact analysis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6217920" y="2788920"/>
            <a:ext cx="2743200" cy="1325880"/>
          </a:xfrm>
          <a:prstGeom prst="rect">
            <a:avLst/>
          </a:prstGeom>
          <a:solidFill>
            <a:srgbClr val="FFE5E5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292608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12280" y="2926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 Deployment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6355080" y="33832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pipeline deployment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 monitoring &amp; drift detection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Retraining strategy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COLLECTION &amp; UNDERSTANDING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96240" y="92125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Credit Card Fraud Dataset - Exploratory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65960" cy="91440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Transactions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284,807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189280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cardholders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1188720"/>
            <a:ext cx="1965960" cy="91440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743200" y="132588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Fraudulent Cases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157276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134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492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0" y="189280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class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1965960" cy="91440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892040" y="132588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57276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0.17%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92040" y="189280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imbalance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03720" y="1188720"/>
            <a:ext cx="1965960" cy="91440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040880" y="132588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0" y="157276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7C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040880" y="189280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V1-V28 (PCA) + 2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CHARACTERISTICS &amp; CHALLENGES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697480"/>
            <a:ext cx="3931920" cy="211836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40080" y="2697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134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 IDENTIFIED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4518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Extreme Class Imbalance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Only 0.17% fraudulent transactions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Standard models will bias toward majority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Anonymized Features (PCA)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V1-V28 are PCA-transformed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Limited domain interpretation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Time-Series Nature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Transactions over 2 days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Need chronological train-test split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697480"/>
            <a:ext cx="3931920" cy="211836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937760" y="2697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7C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SOLUTIONS IMPLEMENTED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3832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Resampling Techniques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SMOTE (Synthetic Minority Oversampling)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Random Undersampling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Class weights in algorithms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Feature Engineering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StandardScaler normalization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Feature importance analysis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Evaluation Strategy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Focus on F1-Score, AUC-PR over accuracy</a:t>
            </a:r>
            <a:endParaRPr lang="en-US" sz="9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Stratified cross-validation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AUTOMATED END-TO-END ML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908" y="9829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Data to Production Deployment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51560" cy="10058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0116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" y="2281428"/>
            <a:ext cx="868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API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1645920" y="1856232"/>
            <a:ext cx="82296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1773936" y="1371600"/>
            <a:ext cx="1051560" cy="10058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1116" y="15087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65376" y="20116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865376" y="2258568"/>
            <a:ext cx="868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Nulls, Outliers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2871216" y="1856232"/>
            <a:ext cx="82296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0"/>
          <p:cNvSpPr/>
          <p:nvPr/>
        </p:nvSpPr>
        <p:spPr>
          <a:xfrm>
            <a:off x="2999232" y="1371600"/>
            <a:ext cx="1051560" cy="10058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6412" y="15087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090672" y="201168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090672" y="2257044"/>
            <a:ext cx="868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Scaling, PCA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4096512" y="1856232"/>
            <a:ext cx="82296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4"/>
          <p:cNvSpPr/>
          <p:nvPr/>
        </p:nvSpPr>
        <p:spPr>
          <a:xfrm>
            <a:off x="4224528" y="1371600"/>
            <a:ext cx="1051560" cy="10058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1708" y="150876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315968" y="201168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Resampling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315968" y="2212848"/>
            <a:ext cx="868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SMOTE/RUS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5321808" y="1856232"/>
            <a:ext cx="82296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18"/>
          <p:cNvSpPr/>
          <p:nvPr/>
        </p:nvSpPr>
        <p:spPr>
          <a:xfrm>
            <a:off x="5449824" y="1371600"/>
            <a:ext cx="1051560" cy="10058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7004" y="150876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541264" y="1975104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5541264" y="2212848"/>
            <a:ext cx="868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Algorithms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6547104" y="1856232"/>
            <a:ext cx="82296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2"/>
          <p:cNvSpPr/>
          <p:nvPr/>
        </p:nvSpPr>
        <p:spPr>
          <a:xfrm>
            <a:off x="6675120" y="1371600"/>
            <a:ext cx="1051560" cy="10058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2300" y="1508760"/>
            <a:ext cx="457200" cy="4572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766560" y="20116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6766560" y="2212848"/>
            <a:ext cx="868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Metrics</a:t>
            </a:r>
            <a:endParaRPr lang="en-US" sz="800" dirty="0"/>
          </a:p>
        </p:txBody>
      </p:sp>
      <p:sp>
        <p:nvSpPr>
          <p:cNvPr id="33" name="Shape 25"/>
          <p:cNvSpPr/>
          <p:nvPr/>
        </p:nvSpPr>
        <p:spPr>
          <a:xfrm>
            <a:off x="7772400" y="1856232"/>
            <a:ext cx="82296" cy="3657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26"/>
          <p:cNvSpPr/>
          <p:nvPr/>
        </p:nvSpPr>
        <p:spPr>
          <a:xfrm>
            <a:off x="7900416" y="1371600"/>
            <a:ext cx="1051560" cy="10058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7596" y="1508760"/>
            <a:ext cx="457200" cy="45720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7991856" y="2011680"/>
            <a:ext cx="960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7991856" y="2212848"/>
            <a:ext cx="8686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</a:t>
            </a:r>
            <a:endParaRPr lang="en-US" sz="800" dirty="0"/>
          </a:p>
        </p:txBody>
      </p:sp>
      <p:sp>
        <p:nvSpPr>
          <p:cNvPr id="38" name="Shape 29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solidFill>
            <a:srgbClr val="24292E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715768"/>
            <a:ext cx="411480" cy="41148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1234440" y="269748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Repository: github.com/pnehete23/credit-card-fraud-detection</a:t>
            </a:r>
            <a:endParaRPr lang="en-US" sz="1400" dirty="0"/>
          </a:p>
        </p:txBody>
      </p:sp>
      <p:sp>
        <p:nvSpPr>
          <p:cNvPr id="41" name="Text 31"/>
          <p:cNvSpPr/>
          <p:nvPr/>
        </p:nvSpPr>
        <p:spPr>
          <a:xfrm>
            <a:off x="1234440" y="2971800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implementation including notebooks, scripts, models, and documentation</a:t>
            </a:r>
            <a:endParaRPr lang="en-US" sz="1000" dirty="0"/>
          </a:p>
        </p:txBody>
      </p:sp>
      <p:sp>
        <p:nvSpPr>
          <p:cNvPr id="42" name="Text 32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BENEFITS</a:t>
            </a:r>
            <a:endParaRPr lang="en-US" sz="1400" dirty="0"/>
          </a:p>
        </p:txBody>
      </p:sp>
      <p:sp>
        <p:nvSpPr>
          <p:cNvPr id="43" name="Shape 33"/>
          <p:cNvSpPr/>
          <p:nvPr/>
        </p:nvSpPr>
        <p:spPr>
          <a:xfrm>
            <a:off x="457200" y="3794760"/>
            <a:ext cx="1965960" cy="5486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360" y="3904488"/>
            <a:ext cx="320040" cy="32004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1005840" y="39044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Reproducible: Version-controlled code &amp; data</a:t>
            </a:r>
            <a:endParaRPr lang="en-US" sz="900" dirty="0"/>
          </a:p>
        </p:txBody>
      </p:sp>
      <p:sp>
        <p:nvSpPr>
          <p:cNvPr id="46" name="Shape 35"/>
          <p:cNvSpPr/>
          <p:nvPr/>
        </p:nvSpPr>
        <p:spPr>
          <a:xfrm>
            <a:off x="2606040" y="3794760"/>
            <a:ext cx="1965960" cy="5486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7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43200" y="3904488"/>
            <a:ext cx="320040" cy="320040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3154680" y="39044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Scalable: Handles millions of transactions</a:t>
            </a:r>
            <a:endParaRPr lang="en-US" sz="900" dirty="0"/>
          </a:p>
        </p:txBody>
      </p:sp>
      <p:sp>
        <p:nvSpPr>
          <p:cNvPr id="49" name="Shape 37"/>
          <p:cNvSpPr/>
          <p:nvPr/>
        </p:nvSpPr>
        <p:spPr>
          <a:xfrm>
            <a:off x="4754880" y="3794760"/>
            <a:ext cx="1965960" cy="5486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92040" y="3904488"/>
            <a:ext cx="320040" cy="320040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5303520" y="39044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Automated: End-to-end without manual intervention</a:t>
            </a:r>
            <a:endParaRPr lang="en-US" sz="900" dirty="0"/>
          </a:p>
        </p:txBody>
      </p:sp>
      <p:sp>
        <p:nvSpPr>
          <p:cNvPr id="52" name="Shape 39"/>
          <p:cNvSpPr/>
          <p:nvPr/>
        </p:nvSpPr>
        <p:spPr>
          <a:xfrm>
            <a:off x="6903720" y="3794760"/>
            <a:ext cx="1965960" cy="5486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0880" y="3904488"/>
            <a:ext cx="320040" cy="320040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7452360" y="39044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Monitored: Real-time performance tracking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ENGINEERING &amp; PREPARATION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42900" y="9875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Raw Data into Model-Ready Features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11887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Scaling &amp; Normalization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874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StandardScaler for Amount &amp; Time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Z-score normalization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Preserves distribution shape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337560" y="1280160"/>
            <a:ext cx="2743200" cy="1188720"/>
          </a:xfrm>
          <a:prstGeom prst="rect">
            <a:avLst/>
          </a:prstGeom>
          <a:solidFill>
            <a:srgbClr val="FFF9E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4173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3192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Handling Imbalance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474720" y="1874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SMOTE (Synthetic Minority)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Random Undersampling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Combined approach: best results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217920" y="1280160"/>
            <a:ext cx="2743200" cy="1188720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4173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12280" y="1417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Selection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355080" y="1874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Correlation analysis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 importance (tree-based)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Remove low-variance features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RESAMPLING STRATEGY COMPARISON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57200" y="3063240"/>
            <a:ext cx="8229600" cy="150876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3"/>
          <p:cNvSpPr/>
          <p:nvPr/>
        </p:nvSpPr>
        <p:spPr>
          <a:xfrm>
            <a:off x="640080" y="32004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r>
              <a:rPr lang="en-US" sz="10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			</a:t>
            </a:r>
            <a:r>
              <a:rPr lang="en-US" sz="10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</a:t>
            </a:r>
            <a:r>
              <a:rPr lang="en-US" sz="10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	</a:t>
            </a:r>
            <a:r>
              <a:rPr lang="en-US" sz="10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r>
              <a:rPr lang="en-US" sz="10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	</a:t>
            </a:r>
            <a:r>
              <a:rPr lang="en-US" sz="10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</a:t>
            </a:r>
            <a:r>
              <a:rPr lang="en-US" sz="10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		</a:t>
            </a:r>
            <a:r>
              <a:rPr lang="en-US" sz="10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640080" y="34747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(Imbalanced)		492			284,315			1:578		Poor recall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40080" y="3675888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 Only		284,315			284,315			1:1		Overfitting risk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40080" y="3877056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Undersample		492			492			1:1		Information loss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594360" y="42062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7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(SMOTE + RUS)		~50,000			~50,000			1:1		</a:t>
            </a:r>
            <a:r>
              <a:rPr lang="en-US" sz="900" b="1" dirty="0">
                <a:solidFill>
                  <a:srgbClr val="107C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Best balance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DEVELOPMENT &amp; TRAINING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Comparison of 5 ML/DL Algorithms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1188720"/>
          </a:xfrm>
          <a:prstGeom prst="rect">
            <a:avLst/>
          </a:prstGeom>
          <a:solidFill>
            <a:srgbClr val="E1F5F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743200" cy="3657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XGBoost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13258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overall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max_depth: 6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n_estimators: 100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learning_rate: 0.1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37560" y="1280160"/>
            <a:ext cx="2743200" cy="118872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3337560" y="1280160"/>
            <a:ext cx="2743200" cy="365760"/>
          </a:xfrm>
          <a:prstGeom prst="rect">
            <a:avLst/>
          </a:prstGeom>
          <a:solidFill>
            <a:srgbClr val="005A9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474720" y="1325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66360" y="13258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precision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0" y="17373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Learning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n_estimators: 100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max_features: sqrt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min_samples_split: 2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2743200" cy="118872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6217920" y="1280160"/>
            <a:ext cx="2743200" cy="365760"/>
          </a:xfrm>
          <a:prstGeom prst="rect">
            <a:avLst/>
          </a:prstGeom>
          <a:solidFill>
            <a:srgbClr val="005A9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355080" y="1325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Neural Network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0" y="13258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patterns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55080" y="17373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55080" y="1965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Layers: [128, 64, 32]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Activation: ReLU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Dropout: 0.3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651760"/>
            <a:ext cx="2743200" cy="118872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2651760"/>
            <a:ext cx="2743200" cy="365760"/>
          </a:xfrm>
          <a:prstGeom prst="rect">
            <a:avLst/>
          </a:prstGeom>
          <a:solidFill>
            <a:srgbClr val="005A9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94360" y="2697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Autoencoder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286000" y="26974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 detection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94360" y="31089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DL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" y="3337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Encoder: [16, 8, 4]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Decoder: [8, 16, 30]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Anomaly detection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337560" y="2651760"/>
            <a:ext cx="2743200" cy="118872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3337560" y="2651760"/>
            <a:ext cx="2743200" cy="365760"/>
          </a:xfrm>
          <a:prstGeom prst="rect">
            <a:avLst/>
          </a:prstGeom>
          <a:solidFill>
            <a:srgbClr val="005A9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3474720" y="2697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Logistic Reg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66360" y="269748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474720" y="31089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Model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74720" y="3337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Solver: lbfgs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C: 1.0</a:t>
            </a:r>
            <a:endParaRPr lang="en-US" sz="8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Penalty: l2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080760" y="2651760"/>
            <a:ext cx="2606040" cy="11887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217920" y="26974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7C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 STRATEGY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0" y="30861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Stratified K-Fold CV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Grid Search for params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Early stopping (NN/AE)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Class weight balancing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Reproducible seeds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EVALUATION &amp; COMPARISON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96240" y="96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Performance Analysis Across 7 Metrics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280160"/>
          <a:ext cx="82296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&amp; MODEL RANKINGS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Emerges as Clear Winner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solidFill>
            <a:srgbClr val="FFF4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91440" cy="548640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13533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58191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0.8352 | Precision: 0.8736 | Recall: 0.8000 | Time: 8.8s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931920" y="1444752"/>
            <a:ext cx="4754880" cy="21945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3931920" y="1444752"/>
            <a:ext cx="4754880" cy="219456"/>
          </a:xfrm>
          <a:prstGeom prst="rect">
            <a:avLst/>
          </a:prstGeom>
          <a:solidFill>
            <a:srgbClr val="FFB9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644277" y="143713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0.8352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1920240"/>
            <a:ext cx="91440" cy="5486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85800" y="1965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188720" y="19933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22199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0.8197 | Precision: 0.8523 | Recall: 0.7895 | Time: 141.6s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931920" y="2084832"/>
            <a:ext cx="4754880" cy="21945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3931920" y="2084832"/>
            <a:ext cx="4666637" cy="21945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644277" y="2084832"/>
            <a:ext cx="594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0.8197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457200" y="2560320"/>
            <a:ext cx="91440" cy="5486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85800" y="2606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188720" y="26334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286207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0.6977 | Precision: 0.6250 | Recall: 0.7895 | Time: 41.8s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931920" y="2724912"/>
            <a:ext cx="4754880" cy="21945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931920" y="2724912"/>
            <a:ext cx="3972078" cy="21945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995437" y="2724912"/>
            <a:ext cx="60311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0.6977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57200" y="3200400"/>
            <a:ext cx="91440" cy="5486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85800" y="3246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1188720" y="32735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Autoencoder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88720" y="35021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0.5517 | Precision: 0.6076 | Recall: 0.5053 | Time: 16.2s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931920" y="3364992"/>
            <a:ext cx="4754880" cy="21945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3931920" y="3364992"/>
            <a:ext cx="3140885" cy="21945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7164244" y="3364992"/>
            <a:ext cx="63101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0.5517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457200" y="3840480"/>
            <a:ext cx="91440" cy="5486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85800" y="38862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1188720" y="391363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188720" y="414223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F1: 0.0825 | Precision: 0.0433 | Recall: 0.8632 | Time: 47.2s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931920" y="4005072"/>
            <a:ext cx="4754880" cy="21945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3931920" y="4005072"/>
            <a:ext cx="469681" cy="219456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4493040" y="4005072"/>
            <a:ext cx="59711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0.0825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FINDINGS &amp; INSIGHTS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 From This ML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868680"/>
          </a:xfrm>
          <a:prstGeom prst="rect">
            <a:avLst/>
          </a:prstGeom>
          <a:solidFill>
            <a:srgbClr val="FFF4E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41732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XGBoost Dominates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97280" y="169164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F1-Score (0.835), highest AUC-ROC (0.971), and fastest training (8.8s). Optimal for production deployment with real-time requirements.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800600" y="1280160"/>
            <a:ext cx="4114800" cy="8686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41732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41732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Efficiency Matters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40680" y="169164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trains 16x faster than Random Forest while maintaining better performance. Critical for frequent retraining as fraud patterns evolve.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57200" y="2286000"/>
            <a:ext cx="4114800" cy="868680"/>
          </a:xfrm>
          <a:prstGeom prst="rect">
            <a:avLst/>
          </a:prstGeom>
          <a:solidFill>
            <a:srgbClr val="FFE5E5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4231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242316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Precision-Recall Trade-off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097280" y="26974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achieves high recall (86.3%) but poor precision (4.3%) - would flag 96% of alerts incorrectly. Balance is crucial.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800600" y="2286000"/>
            <a:ext cx="4114800" cy="868680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42316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40680" y="242316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Resampling Impact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440680" y="269748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SMOTE + Random Undersampling significantly improved performance across all models. Essential for handling extreme imbalance.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457200" y="3291840"/>
            <a:ext cx="4114800" cy="86868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42900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97280" y="342900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Metric Selection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1097280" y="37033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is misleading with imbalanced data (99.8% by predicting all normal). F1-Score and AUC-PR provide better evaluation.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4800600" y="3291840"/>
            <a:ext cx="4114800" cy="868680"/>
          </a:xfrm>
          <a:prstGeom prst="rect">
            <a:avLst/>
          </a:prstGeom>
          <a:solidFill>
            <a:srgbClr val="FFF9E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342900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40680" y="342900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Learning Limitations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5440680" y="3703320"/>
            <a:ext cx="3337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 and autoencoders underperformed tree-based models. Require more data and tuning for tabular data with engineered features.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IMPACT &amp; ROI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Quantifying the Value of ML Implementation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65960" cy="91440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7C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83.5%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189280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actual fraud cases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1188720"/>
            <a:ext cx="1965960" cy="91440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743200" y="132588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157276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12.6%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0" y="189280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legitimate flagged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1965960" cy="91440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892040" y="132588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Time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57276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&lt;50ms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92040" y="189280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transaction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03720" y="1188720"/>
            <a:ext cx="1965960" cy="91440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040880" y="1325880"/>
            <a:ext cx="1691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Savings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40880" y="157276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7C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$2.4M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040880" y="1892808"/>
            <a:ext cx="1691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(est.)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COST-BENEFIT ANALYSIS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2697480"/>
            <a:ext cx="3931920" cy="1668780"/>
          </a:xfrm>
          <a:prstGeom prst="rect">
            <a:avLst/>
          </a:prstGeom>
          <a:solidFill>
            <a:srgbClr val="FFE5E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40080" y="27813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134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1546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Development: $150K (6 months)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Infrastructure: $30K/year (AWS)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Maintenance: $50K/year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Positives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friction: ~$200K/year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Manual review: ~$100K/year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697480"/>
            <a:ext cx="3931920" cy="166878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937760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7C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BENEFITS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15468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Prevention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Estimated fraud: $3.5M/year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Detection rate: 83.5%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Prevented: $2.9M/year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Efficiency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review: $200K/year saved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Faster processing: $100K/year value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0" y="4480560"/>
            <a:ext cx="3657600" cy="50292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2926080" y="4572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 ANNUAL BENEFIT: $2.4M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RECOMMENDATIONS TO MANAGEMENT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10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Action Plan for Implementation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37160" cy="914400"/>
          </a:xfrm>
          <a:prstGeom prst="rect">
            <a:avLst/>
          </a:prstGeom>
          <a:solidFill>
            <a:srgbClr val="107C1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716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32588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7C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IMMEDIATE ACTION: Deploy XGBoost Model to Production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16916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delivers optimal balance of accuracy (F1: 0.835), speed (8.8s training), and efficiency. Ready for immediate deployment with expected ROI of $2.4M annually.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PHASED IMPLEMENTATION PLAN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743200"/>
            <a:ext cx="2743200" cy="150876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457200" y="2743200"/>
            <a:ext cx="2743200" cy="3657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59436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Pilot (Month 1-2)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2461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4360" y="3657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Deploy XGBoost to shadow mode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Monitor performance vs. current system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Process 10% of live transactions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Establish baseline metrics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57200" y="4160520"/>
            <a:ext cx="2743200" cy="9144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2"/>
          <p:cNvSpPr/>
          <p:nvPr/>
        </p:nvSpPr>
        <p:spPr>
          <a:xfrm>
            <a:off x="594360" y="4160520"/>
            <a:ext cx="24688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8 weeks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3337560" y="2743200"/>
            <a:ext cx="2743200" cy="150876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4"/>
          <p:cNvSpPr/>
          <p:nvPr/>
        </p:nvSpPr>
        <p:spPr>
          <a:xfrm>
            <a:off x="3337560" y="2743200"/>
            <a:ext cx="2743200" cy="3657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5"/>
          <p:cNvSpPr/>
          <p:nvPr/>
        </p:nvSpPr>
        <p:spPr>
          <a:xfrm>
            <a:off x="347472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Rollout (Month 3-4)</a:t>
            </a:r>
            <a:endParaRPr lang="en-US" sz="1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24612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474720" y="3657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Gradual increase to 50% traffic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A/B testing against existing system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Fine-tune decision thresholds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 operations team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3337560" y="4160520"/>
            <a:ext cx="2743200" cy="9144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18"/>
          <p:cNvSpPr/>
          <p:nvPr/>
        </p:nvSpPr>
        <p:spPr>
          <a:xfrm>
            <a:off x="3474720" y="4160520"/>
            <a:ext cx="24688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8 weeks</a:t>
            </a:r>
            <a:endParaRPr lang="en-US" sz="800" dirty="0"/>
          </a:p>
        </p:txBody>
      </p:sp>
      <p:sp>
        <p:nvSpPr>
          <p:cNvPr id="24" name="Shape 19"/>
          <p:cNvSpPr/>
          <p:nvPr/>
        </p:nvSpPr>
        <p:spPr>
          <a:xfrm>
            <a:off x="6217920" y="2743200"/>
            <a:ext cx="2743200" cy="150876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0"/>
          <p:cNvSpPr/>
          <p:nvPr/>
        </p:nvSpPr>
        <p:spPr>
          <a:xfrm>
            <a:off x="6217920" y="2743200"/>
            <a:ext cx="2743200" cy="36576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1"/>
          <p:cNvSpPr/>
          <p:nvPr/>
        </p:nvSpPr>
        <p:spPr>
          <a:xfrm>
            <a:off x="635508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Full Production (Month 5-6)</a:t>
            </a:r>
            <a:endParaRPr lang="en-US" sz="11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246120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355080" y="3657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traffic migration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retraining pipeline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monitoring dashboard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Incident response protocols</a:t>
            </a:r>
            <a:endParaRPr lang="en-US" sz="800" dirty="0"/>
          </a:p>
        </p:txBody>
      </p:sp>
      <p:sp>
        <p:nvSpPr>
          <p:cNvPr id="29" name="Shape 23"/>
          <p:cNvSpPr/>
          <p:nvPr/>
        </p:nvSpPr>
        <p:spPr>
          <a:xfrm>
            <a:off x="6217920" y="4160520"/>
            <a:ext cx="2743200" cy="9144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4"/>
          <p:cNvSpPr/>
          <p:nvPr/>
        </p:nvSpPr>
        <p:spPr>
          <a:xfrm>
            <a:off x="6355080" y="4160520"/>
            <a:ext cx="24688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Timeline: 8 weeks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 MITIGATION &amp; MONITORING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5E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Ensuring Long-Term Success &amp; Reliability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1371600"/>
          </a:xfrm>
          <a:prstGeom prst="rect">
            <a:avLst/>
          </a:prstGeom>
          <a:solidFill>
            <a:srgbClr val="FFF9E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Drift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247900" y="1481328"/>
            <a:ext cx="8153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1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High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94360" y="1874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4360" y="2103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Weekly performance monitoring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Monthly retraining schedule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drift detection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Champion-challenger framework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337560" y="1280160"/>
            <a:ext cx="2743200" cy="1371600"/>
          </a:xfrm>
          <a:prstGeom prst="rect">
            <a:avLst/>
          </a:prstGeom>
          <a:solidFill>
            <a:srgbClr val="FFF9E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4173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 Drift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234940" y="1481328"/>
            <a:ext cx="8001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D13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High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3474720" y="1874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474720" y="2103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Fraud pattern analysis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 importance tracking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Adaptive learning pipeline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Expert review process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6217920" y="1280160"/>
            <a:ext cx="2743200" cy="1371600"/>
          </a:xfrm>
          <a:prstGeom prst="rect">
            <a:avLst/>
          </a:prstGeom>
          <a:solidFill>
            <a:srgbClr val="FFF9E6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4173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1228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3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Failure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802880" y="1399032"/>
            <a:ext cx="10439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Medium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6355080" y="18745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355080" y="21031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Fallback to rule-based system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99.9% uptime SLA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Redundant infrastructure</a:t>
            </a:r>
            <a:endParaRPr lang="en-US" sz="8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health checks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8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CONTINUOUS MONITORING STRATEGY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57200" y="3200400"/>
            <a:ext cx="8229600" cy="1051560"/>
          </a:xfrm>
          <a:prstGeom prst="rect">
            <a:avLst/>
          </a:prstGeom>
          <a:solidFill>
            <a:srgbClr val="F3F2F1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37560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" y="333756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Daily: F1-Score, Precision, Recall, False Positive Rate</a:t>
            </a:r>
            <a:endParaRPr lang="en-US" sz="10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66160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14400" y="356616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Weekly: Model drift analysis, Feature importance shifts</a:t>
            </a:r>
            <a:endParaRPr lang="en-US" sz="10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94760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14400" y="379476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Monthly: Full retraining with updated data, A/B testing</a:t>
            </a:r>
            <a:endParaRPr lang="en-US" sz="10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23360"/>
            <a:ext cx="182880" cy="1828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14400" y="4023360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23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Quarterly: Business impact review, Cost-benefit analysis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&amp; NEXT STEPS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1554480"/>
            <a:ext cx="2743200" cy="45720"/>
          </a:xfrm>
          <a:prstGeom prst="rect">
            <a:avLst/>
          </a:prstGeom>
          <a:solidFill>
            <a:srgbClr val="50E6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Built end-to-end automated ML pipeline following CRISP-DM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XGBoost identified as optimal model (F1: 0.835, AUC: 0.971, 8.8s training)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Projected $2.4M annual ROI with 83.5% fraud detection rate</a:t>
            </a: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endParaRPr lang="en-US" sz="14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Ready for phased deployment starting Q2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-1699260" y="3520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IMMEDIATE NEXT STEPS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7260" y="39319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F3F2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Approve pilot deployment (2 months, $50K budget)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F3F2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Allocate infrastructure resources (AWS, monitoring tools)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F3F2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Assemble deployment team (2 ML engineers, 1 DevOps)</a:t>
            </a:r>
            <a:endParaRPr lang="en-US" sz="12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F3F2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Schedule kickoff meeting for Week 1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AACC"/>
                </a:solidFill>
              </a:defRPr>
            </a:pPr>
            <a:r>
              <a:t>Class Distribution &amp; Transaction Amount Analysis</a:t>
            </a:r>
          </a:p>
        </p:txBody>
      </p:sp>
      <p:pic>
        <p:nvPicPr>
          <p:cNvPr id="4" name="Picture 3" descr="01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4389120" cy="4023360"/>
          </a:xfrm>
          <a:prstGeom prst="rect">
            <a:avLst/>
          </a:prstGeom>
        </p:spPr>
      </p:pic>
      <p:pic>
        <p:nvPicPr>
          <p:cNvPr id="5" name="Picture 4" descr="02_amoun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43891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TEMPORAL &amp; CORRELATION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AACC"/>
                </a:solidFill>
              </a:defRPr>
            </a:pPr>
            <a:r>
              <a:t>Transaction Patterns Over Time &amp; Feature Correlations</a:t>
            </a:r>
          </a:p>
        </p:txBody>
      </p:sp>
      <p:pic>
        <p:nvPicPr>
          <p:cNvPr id="4" name="Picture 3" descr="03_temporal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4389120" cy="4023360"/>
          </a:xfrm>
          <a:prstGeom prst="rect">
            <a:avLst/>
          </a:prstGeom>
        </p:spPr>
      </p:pic>
      <p:pic>
        <p:nvPicPr>
          <p:cNvPr id="5" name="Picture 4" descr="04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43891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PCA FEATURES &amp; RESAMPLING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AACC"/>
                </a:solidFill>
              </a:defRPr>
            </a:pPr>
            <a:r>
              <a:t>Feature Distributions &amp; Impact of Resampling Strategies</a:t>
            </a:r>
          </a:p>
        </p:txBody>
      </p:sp>
      <p:pic>
        <p:nvPicPr>
          <p:cNvPr id="4" name="Picture 3" descr="05_pca_feature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4389120" cy="4023360"/>
          </a:xfrm>
          <a:prstGeom prst="rect">
            <a:avLst/>
          </a:prstGeom>
        </p:spPr>
      </p:pic>
      <p:pic>
        <p:nvPicPr>
          <p:cNvPr id="5" name="Picture 4" descr="06_resampling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43891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MODEL TRAINING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AACC"/>
                </a:solidFill>
              </a:defRPr>
            </a:pPr>
            <a:r>
              <a:t>Autoencoder Loss &amp; Neural Network Training Progress</a:t>
            </a:r>
          </a:p>
        </p:txBody>
      </p:sp>
      <p:pic>
        <p:nvPicPr>
          <p:cNvPr id="4" name="Picture 3" descr="07_autoencoder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4389120" cy="4023360"/>
          </a:xfrm>
          <a:prstGeom prst="rect">
            <a:avLst/>
          </a:prstGeom>
        </p:spPr>
      </p:pic>
      <p:pic>
        <p:nvPicPr>
          <p:cNvPr id="5" name="Picture 4" descr="09_nn_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43891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CONFUSION MATRICES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AACC"/>
                </a:solidFill>
              </a:defRPr>
            </a:pPr>
            <a:r>
              <a:t>Classification Results for All Models</a:t>
            </a:r>
          </a:p>
        </p:txBody>
      </p:sp>
      <p:pic>
        <p:nvPicPr>
          <p:cNvPr id="4" name="Picture 3" descr="10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ROC &amp; PRECISION-RECALL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AACC"/>
                </a:solidFill>
              </a:defRPr>
            </a:pPr>
            <a:r>
              <a:t>Model Discrimination &amp; Precision-Recall Trade-offs</a:t>
            </a:r>
          </a:p>
        </p:txBody>
      </p:sp>
      <p:pic>
        <p:nvPicPr>
          <p:cNvPr id="4" name="Picture 3" descr="11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4389120" cy="4023360"/>
          </a:xfrm>
          <a:prstGeom prst="rect">
            <a:avLst/>
          </a:prstGeom>
        </p:spPr>
      </p:pic>
      <p:pic>
        <p:nvPicPr>
          <p:cNvPr id="5" name="Picture 4" descr="12_precision_recall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43891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MODEL METRICS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AACC"/>
                </a:solidFill>
              </a:defRPr>
            </a:pPr>
            <a:r>
              <a:t>Comprehensive Performance Metrics Across All Models</a:t>
            </a:r>
          </a:p>
        </p:txBody>
      </p:sp>
      <p:pic>
        <p:nvPicPr>
          <p:cNvPr id="4" name="Picture 3" descr="13_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RESAMPLING STRATEGY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AACC"/>
                </a:solidFill>
              </a:defRPr>
            </a:pPr>
            <a:r>
              <a:t>Performance Comparison Across Different Resampling Approaches</a:t>
            </a:r>
          </a:p>
        </p:txBody>
      </p:sp>
      <p:pic>
        <p:nvPicPr>
          <p:cNvPr id="4" name="Picture 3" descr="15_resampling_strateg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FEATURE IMPORTANCE &amp; THRESHOLD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AACC"/>
                </a:solidFill>
              </a:defRPr>
            </a:pPr>
            <a:r>
              <a:t>Key Features Driving Predictions &amp; Optimal Decision Boundaries</a:t>
            </a:r>
          </a:p>
        </p:txBody>
      </p:sp>
      <p:pic>
        <p:nvPicPr>
          <p:cNvPr id="4" name="Picture 3" descr="16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4389120" cy="4023360"/>
          </a:xfrm>
          <a:prstGeom prst="rect">
            <a:avLst/>
          </a:prstGeom>
        </p:spPr>
      </p:pic>
      <p:pic>
        <p:nvPicPr>
          <p:cNvPr id="5" name="Picture 4" descr="14_threshold_optim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43891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AAAACC"/>
                </a:solidFill>
              </a:defRPr>
            </a:pPr>
            <a:r>
              <a:t>Reconstruction Errors &amp; Model Confidence Distribution</a:t>
            </a:r>
          </a:p>
        </p:txBody>
      </p:sp>
      <p:pic>
        <p:nvPicPr>
          <p:cNvPr id="4" name="Picture 3" descr="08_ae_reconstruction_err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4389120" cy="4023360"/>
          </a:xfrm>
          <a:prstGeom prst="rect">
            <a:avLst/>
          </a:prstGeom>
        </p:spPr>
      </p:pic>
      <p:pic>
        <p:nvPicPr>
          <p:cNvPr id="5" name="Picture 4" descr="17_error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914400"/>
            <a:ext cx="4389120" cy="4023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1623</Words>
  <Application>Microsoft Macintosh PowerPoint</Application>
  <PresentationFormat>全屏显示(16:9)</PresentationFormat>
  <Paragraphs>331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 - End-to-End ML Pipeline</dc:title>
  <dc:subject>PptxGenJS Presentation</dc:subject>
  <dc:creator>Data Science Team</dc:creator>
  <cp:lastModifiedBy>盛 胡</cp:lastModifiedBy>
  <cp:revision>2</cp:revision>
  <dcterms:created xsi:type="dcterms:W3CDTF">2026-02-09T01:04:14Z</dcterms:created>
  <dcterms:modified xsi:type="dcterms:W3CDTF">2026-02-09T01:13:52Z</dcterms:modified>
</cp:coreProperties>
</file>