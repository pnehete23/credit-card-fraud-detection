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321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148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2651760" y="0"/>
            <a:ext cx="457200" cy="5143500"/>
          </a:xfrm>
          <a:prstGeom prst="rect">
            <a:avLst/>
          </a:prstGeom>
          <a:solidFill>
            <a:srgbClr val="17A2B8">
              <a:alpha val="40000"/>
            </a:srgbClr>
          </a:solidFill>
          <a:ln w="12700">
            <a:solidFill>
              <a:srgbClr val="17A2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103120" cy="1280160"/>
          </a:xfrm>
          <a:prstGeom prst="rect">
            <a:avLst/>
          </a:prstGeom>
          <a:solidFill>
            <a:srgbClr val="1B2E4A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103120" cy="292608"/>
          </a:xfrm>
          <a:prstGeom prst="rect">
            <a:avLst/>
          </a:prstGeom>
          <a:solidFill>
            <a:srgbClr val="F4B942">
              <a:alpha val="80000"/>
            </a:srgbClr>
          </a:solidFill>
          <a:ln w="12700">
            <a:solidFill>
              <a:srgbClr val="F4B94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💳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0" y="6400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00400" y="23317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Detection of Fraudulent Transactions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Anonymized Credit Card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3108960"/>
            <a:ext cx="5486400" cy="0"/>
          </a:xfrm>
          <a:prstGeom prst="line">
            <a:avLst/>
          </a:prstGeom>
          <a:noFill/>
          <a:ln w="19050">
            <a:solidFill>
              <a:srgbClr val="17A2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200400" y="32461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Nadezhda Shiroglazova  ·  Prathamesh Nehete  ·  Sheng Hu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5387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Machine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8313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Credit Card Fraud (MLG-ULB)  ·  284,807 transactions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41239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Research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54864" cy="36118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92608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1280160"/>
            <a:ext cx="391363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causes ~$28B+ in annual losses globally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imbalance: only 0.17% of transactions are fraudulent (1:578 ratio)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(V1–V28) are anonymized via PCA — no domain knowledge available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accuracy is misleading: predicting "all legitimate" gives 99.83%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required to prevent financial harm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448056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480560" y="914400"/>
            <a:ext cx="54864" cy="36118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645152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384048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14173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reliably identify fraud from fully anonymized transaction data?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67128"/>
            <a:ext cx="384048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21671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2167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anonymized PCA components best distinguish fraud from legitimate transactions?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16936"/>
            <a:ext cx="384048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663440" y="29169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29169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different models handle the 1:578 class imbalance?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666744"/>
            <a:ext cx="384048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663440" y="36667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3666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optimal threshold for balancing precision and recall in a fraud detection context?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506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prior work informing our approach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8346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28346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74320" y="99669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Popova &amp; Gardi (2024)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13075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Sampling for Fraud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152704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SMOTE with undersampling to address class imbalance in fraud detection datasets.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28346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154680" y="960120"/>
            <a:ext cx="28346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46120" y="99669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Fariha et al. (2025)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27832" y="13075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 Engineering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27832" y="152704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time-based and behavioral features to augment anonymized PCA components.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8346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126480" y="960120"/>
            <a:ext cx="2834640" cy="320040"/>
          </a:xfrm>
          <a:prstGeom prst="rect">
            <a:avLst/>
          </a:prstGeom>
          <a:solidFill>
            <a:srgbClr val="1B2E4A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217920" y="99669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Marazqah Btoush et al. (2023)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99632" y="13075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Systematic 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99632" y="152704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survey: tree-based ensembles consistently outperform linear baselines on imbalanced fraud data.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2423160"/>
            <a:ext cx="28346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82880" y="2423160"/>
            <a:ext cx="2834640" cy="320040"/>
          </a:xfrm>
          <a:prstGeom prst="rect">
            <a:avLst/>
          </a:prstGeom>
          <a:solidFill>
            <a:srgbClr val="1B2E4A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74320" y="245973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Mienye &amp; Jere (2024)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" y="27706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Fraud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" y="299008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and class-weighting significantly improve neural network recall on extreme imbalance.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423160"/>
            <a:ext cx="28346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154680" y="2423160"/>
            <a:ext cx="2834640" cy="320040"/>
          </a:xfrm>
          <a:prstGeom prst="rect">
            <a:avLst/>
          </a:prstGeom>
          <a:solidFill>
            <a:srgbClr val="17A2B8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246120" y="245973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Alarfaj et al. (2022)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27832" y="27706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for Fraud Detection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27832" y="299008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architectures capture spatial patterns in sequential transaction data effectively.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2423160"/>
            <a:ext cx="28346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126480" y="2423160"/>
            <a:ext cx="2834640" cy="320040"/>
          </a:xfrm>
          <a:prstGeom prst="rect">
            <a:avLst/>
          </a:prstGeom>
          <a:solidFill>
            <a:srgbClr val="17A2B8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217920" y="245973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Karunya et al. (2025)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99632" y="27706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Probability-based kNN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99632" y="2990088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kNN with probability weighting for imbalanced datasets; strong baseline for minority class.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4572000"/>
            <a:ext cx="8778240" cy="320040"/>
          </a:xfrm>
          <a:prstGeom prst="rect">
            <a:avLst/>
          </a:prstGeom>
          <a:solidFill>
            <a:srgbClr val="F4B942">
              <a:alpha val="85000"/>
            </a:srgbClr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320040" y="45994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Literature consistently recommends ensemble methods with class-weighting, PR-AUC as primary metric, and threshold optimization for fraud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505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dataset structure and class distributions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1874520" cy="96012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82880" y="1033272"/>
            <a:ext cx="1874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" y="1536192"/>
            <a:ext cx="18745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960120"/>
            <a:ext cx="1874520" cy="9601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194560" y="1033272"/>
            <a:ext cx="1874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94560" y="1536192"/>
            <a:ext cx="18745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(0.17%)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960120"/>
            <a:ext cx="1874520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1033272"/>
            <a:ext cx="1874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578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206240" y="1536192"/>
            <a:ext cx="18745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1874520" cy="96012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17920" y="1033272"/>
            <a:ext cx="1874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1536192"/>
            <a:ext cx="18745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(28 PCA + Time, Amount, Class)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084832"/>
            <a:ext cx="4023360" cy="2852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82880" y="2084832"/>
            <a:ext cx="4023360" cy="3200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7432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Class Separation (Std. Diff)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04872"/>
          <a:ext cx="3931920" cy="17068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Std Diff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Legit Mean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Fraud Mean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V17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7.86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−6.67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V14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7.29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−6.97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V12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6.28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−6.26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V10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5.22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−5.68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V16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4.73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−4.61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V3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4.25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−4.14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343400" y="2084832"/>
            <a:ext cx="4572000" cy="2852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4343400" y="2084832"/>
            <a:ext cx="54864" cy="2852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4453128" y="21579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453128" y="2450592"/>
            <a:ext cx="437083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V17, V14, V12 show 6–8× standardized separation between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transactions: higher median amount (€122 vs €88 for legitimate)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peaks in off-hours; legitimate transactions follow daily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 duplicate rows — all legitimate; retained as genuine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is highly skewed (skewness=16.98) — needs log transformation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V-features are orthogonal by PCA design: 0 pairs with |corr|&gt;0.3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9184" y="53492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 &amp; Prathamesh — transforming raw signals into model-ready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1554480" cy="777240"/>
          </a:xfrm>
          <a:prstGeom prst="rect">
            <a:avLst/>
          </a:prstGeom>
          <a:solidFill>
            <a:srgbClr val="6C7B8B"/>
          </a:solidFill>
          <a:ln w="12700">
            <a:solidFill>
              <a:srgbClr val="6C7B8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82880" y="9875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features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55648" y="1344168"/>
            <a:ext cx="192024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965960" y="960120"/>
            <a:ext cx="1554480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965960" y="9875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Hour_Sin, Hour_Cos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38728" y="1344168"/>
            <a:ext cx="192024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749040" y="960120"/>
            <a:ext cx="1554480" cy="777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749040" y="9875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Log_Amount, bins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21808" y="1344168"/>
            <a:ext cx="192024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532120" y="960120"/>
            <a:ext cx="1554480" cy="77724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532120" y="9875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on Amount, Time, Log_Amount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04888" y="1344168"/>
            <a:ext cx="192024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315200" y="960120"/>
            <a:ext cx="1554480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315200" y="9875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features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" y="1901952"/>
            <a:ext cx="41605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82880" y="1901952"/>
            <a:ext cx="54864" cy="3017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92608" y="19751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Created (+6)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2608" y="2267712"/>
            <a:ext cx="3959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 / Hour_Cos — cyclical encoding of hour-of-day to preserve proximity (hour 23 ≈ hour 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Is_Night — binary flag for transactions between 10pm–6am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Log_Amount — log(Amount+1) to reduce skewness from 16.98 to ~3.0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Amount_Bin_Small — flag for micro-transactions (Amount &lt; €5)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Amount_Bin_Large — flag for high-value transactions (Amount &gt; €500)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0560" y="1901952"/>
            <a:ext cx="44348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480560" y="1901952"/>
            <a:ext cx="54864" cy="301752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90288" y="197510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Decisions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0288" y="2267712"/>
            <a:ext cx="42336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 (70/10/20) performed BEFORE any preprocessing — prevents data leakage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Winsorization caps computed on training only (0.1th–99.9th pct): capped at €2,929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fit on training only, applied to Amount, Time, Log_Amount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V1–V28 NOT scaled: already standardized by PCA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features with near-zero variance — all 36 features retained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selection, evaluation strategy, and imbalance handling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160520" cy="292608"/>
          </a:xfrm>
          <a:prstGeom prst="rect">
            <a:avLst/>
          </a:prstGeom>
          <a:solidFill>
            <a:srgbClr val="6C7B8B"/>
          </a:solidFill>
          <a:ln w="12700">
            <a:solidFill>
              <a:srgbClr val="6C7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74320" y="99669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·  Linear 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307592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penalty, class_weight=balanced, GridSearchCV (12 configs), 5-fold stratified CV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6052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754880" y="99669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Tree Ensemble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307592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class_weight=balanced, RandomizedSearchCV (20 configs), bootstrap samples with random feature subsets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37744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82880" y="2377440"/>
            <a:ext cx="4160520" cy="292608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74320" y="24140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·  Gradient Boosting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724912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scale_pos_weight=576.87, sequential correction of residuals, RandomizedSearchCV (20 configs)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4160520" cy="292608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754880" y="24140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 ·  Deep 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724912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256→128→64→32→1, Focal Loss vs BCE, early stopping, dropout regularization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4005072"/>
            <a:ext cx="8778240" cy="96012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20040" y="40325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4261104"/>
            <a:ext cx="8549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PR-AUC (most honest for 0.17% imbalance)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F1-Score, Recall, Precision, ROC-AUC, MCC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 on validation set for maximum F1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held out until final evaluation of best model only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Considerations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562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prototype to production fraud detection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023360" cy="3200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74320" y="987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3200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2004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1389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Transaction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5544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Time, Amount, V1–V28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" y="1709928"/>
            <a:ext cx="0" cy="210312"/>
          </a:xfrm>
          <a:prstGeom prst="line">
            <a:avLst/>
          </a:prstGeom>
          <a:noFill/>
          <a:ln w="19050">
            <a:solidFill>
              <a:srgbClr val="D0D7DE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1938528"/>
            <a:ext cx="3200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2004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19568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1214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Hour_Sin/Cos, Is_Night, Log_Amount, Amount bins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" y="2276856"/>
            <a:ext cx="0" cy="210312"/>
          </a:xfrm>
          <a:prstGeom prst="line">
            <a:avLst/>
          </a:prstGeom>
          <a:noFill/>
          <a:ln w="19050">
            <a:solidFill>
              <a:srgbClr val="D0D7DE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20040" y="2505456"/>
            <a:ext cx="3200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20040" y="2505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2523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268833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saved RobustScaler to Amount, Time, Log_Amount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" y="2843784"/>
            <a:ext cx="0" cy="210312"/>
          </a:xfrm>
          <a:prstGeom prst="line">
            <a:avLst/>
          </a:prstGeom>
          <a:noFill/>
          <a:ln w="19050">
            <a:solidFill>
              <a:srgbClr val="D0D7DE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3072384"/>
            <a:ext cx="3200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20040" y="3072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0906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Score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2552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outputs fraud probability (0–1)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" y="3410712"/>
            <a:ext cx="0" cy="210312"/>
          </a:xfrm>
          <a:prstGeom prst="line">
            <a:avLst/>
          </a:prstGeom>
          <a:noFill/>
          <a:ln w="19050">
            <a:solidFill>
              <a:srgbClr val="D0D7DE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20040" y="3639312"/>
            <a:ext cx="3200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2004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36576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Threshold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38221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as fraud if score &gt; 0.988 (optimized)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" y="3977640"/>
            <a:ext cx="0" cy="210312"/>
          </a:xfrm>
          <a:prstGeom prst="line">
            <a:avLst/>
          </a:prstGeom>
          <a:noFill/>
          <a:ln w="19050">
            <a:solidFill>
              <a:srgbClr val="D0D7DE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320040" y="4206240"/>
            <a:ext cx="3200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2004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42245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Log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43891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Block/flag transaction; log decision for audit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43400" y="960120"/>
            <a:ext cx="45720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343400" y="960120"/>
            <a:ext cx="54864" cy="1828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453128" y="1033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 to Save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453128" y="1325880"/>
            <a:ext cx="4370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XGBoost model (pickle / joblib)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RobustScaler (for Amount, Time, Log_Amount)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 value: 0.9880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list (36 features, exact order)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43400" y="2926080"/>
            <a:ext cx="45720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343400" y="2926080"/>
            <a:ext cx="54864" cy="196596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453128" y="2999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Considerations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53128" y="3291840"/>
            <a:ext cx="43708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periodically — fraud patterns evolve (concept drift)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precision &amp; recall in production; alert on metric drops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predictions for regulatory audit trails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ensemble with rule-based system for high-value transactions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can be adjusted by business depending on risk appetite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Conclusions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608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Sheng — model evaluation and final test 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8778240" cy="292608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60120"/>
          <a:ext cx="8503920" cy="14859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4B942"/>
                          </a:solidFill>
                        </a:rPr>
                        <a:t>⭐ XGBoost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</a:rPr>
                        <a:t>0.8072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</a:rPr>
                        <a:t>0.9737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</a:rPr>
                        <a:t>0.8372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</a:rPr>
                        <a:t>0.7347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</a:rPr>
                        <a:t>0.9730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</a:rPr>
                        <a:t>0.8453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7A2B8"/>
                          </a:solidFill>
                        </a:rPr>
                        <a:t>NN (Focal)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0.7884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0.9175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0.8539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0.7755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0.9500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0.8581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B8B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0.7850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0.9351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0.8140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0.7143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0.9459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0.8217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B8B"/>
                          </a:solidFill>
                        </a:rPr>
                        <a:t>Logistic Regression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0.6645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0.9661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0.7742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0.7347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0.8182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</a:rPr>
                        <a:t>0.7749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B8B"/>
                          </a:solidFill>
                        </a:rPr>
                        <a:t>Baseline (Majority)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B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B8B"/>
                          </a:solidFill>
                        </a:rPr>
                        <a:t>0.5000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B8B"/>
                          </a:solidFill>
                        </a:rPr>
                        <a:t>0.0000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B8B"/>
                          </a:solidFill>
                        </a:rPr>
                        <a:t>0.0000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B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7B8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82880" y="3246120"/>
            <a:ext cx="4114800" cy="1691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E7C7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27432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Final Test Set Results — XGBoost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 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31720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546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0040" y="4023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 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3000" y="4023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0.8539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331720" y="4023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 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54680" y="4023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0.8072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" y="4389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 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" y="4389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331720" y="4389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Threshold:  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154680" y="4389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34840" y="3246120"/>
            <a:ext cx="4572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4434840" y="3246120"/>
            <a:ext cx="54864" cy="16916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4544568" y="3319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44568" y="3611880"/>
            <a:ext cx="4370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selected as best model: highest PR-AUC (0.8072) on validation 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V17, V14, V12 are the most discriminative features (&gt;6σ separation)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is the right metric — accuracy is misleading with 1:578 imbalance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 (0.988) critical for business-optimal precision/recall balance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577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constraints and areas for improvement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54864" cy="13258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92608" y="1033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Anonymization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132588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V1–V28 are PCA-transformed with no domain meaning. Domain-driven feature engineering (merchant category, geographic patterns, transaction velocity) is impossible.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54864" cy="13258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264408" y="1033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132588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covers only 2 days of transactions. Real fraud patterns evolve over time — concept drift may significantly degrade model performance in production.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54864" cy="132588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36208" y="1033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32588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492 fraud cases in 284,807 transactions. Neural networks and deep learning are constrained by limited fraud examples; generalization of minority class is uncertain.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24231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82880" y="2423160"/>
            <a:ext cx="54864" cy="132588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92608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" y="278892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PR-AUC gap of 0.147 (RF) and 0.137 (XGBoost) indicates memorization on training folds. Regularization improved but did not fully resolve this.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4231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154680" y="2423160"/>
            <a:ext cx="54864" cy="13258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264408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64408" y="278892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 was not tested. Literature (Popova &amp; Gardi, 2024) suggests hybrid sampling may further improve minority class recall beyond class-weighting alone.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4231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126480" y="2423160"/>
            <a:ext cx="54864" cy="13258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36208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Threshold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278892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 of 0.988 was selected purely by F1. Real deployment requires domain expertise to weigh false positive cost (customer friction) vs false negative cost (fraud loss).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4526280"/>
            <a:ext cx="8778240" cy="347472"/>
          </a:xfrm>
          <a:prstGeom prst="rect">
            <a:avLst/>
          </a:prstGeom>
          <a:solidFill>
            <a:srgbClr val="1B2E4A">
              <a:alpha val="85000"/>
            </a:srgbClr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20040" y="456285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Test SMOTE hybrid sampling · Incorporate graph-based features · Explore online/streaming fraud detection · Investigate model explainability (SHAP) for regulatory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394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contributions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834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2834640" cy="868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188720" y="1005840"/>
            <a:ext cx="777240" cy="7772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024128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Nadezhda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Shiroglazova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233172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 &amp; initial exploration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analysis &amp; EDA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V-feature separation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&amp; duplicate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Train/Validation/Test splitting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(Time features)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baseline modeling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altLang="zh-CN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 checklist</a:t>
            </a:r>
            <a:endParaRPr lang="en-US" altLang="zh-CN" sz="1000" dirty="0"/>
          </a:p>
          <a:p>
            <a:pPr marL="342900" indent="-342900">
              <a:buSzPct val="100000"/>
              <a:buFontTx/>
              <a:buChar char="•"/>
            </a:pPr>
            <a:r>
              <a:rPr lang="en-US" altLang="zh-CN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design (Focal Loss)</a:t>
            </a:r>
            <a:endParaRPr lang="en-US" altLang="zh-CN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960120"/>
            <a:ext cx="2834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154680" y="960120"/>
            <a:ext cx="2834640" cy="86868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160520" y="1005840"/>
            <a:ext cx="777240" cy="7772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160520" y="1024128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4612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Prathamesh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Nehete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33172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transformation &amp; winsorization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 (Hour_Sin/Cos)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strategy (RobustScaler)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implementation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EDA visualizations</a:t>
            </a:r>
          </a:p>
          <a:p>
            <a:pPr marL="342900" indent="-342900">
              <a:buSzPct val="100000"/>
              <a:buChar char="•"/>
            </a:pPr>
            <a:r>
              <a:rPr lang="en-US" altLang="zh-CN" sz="1000" dirty="0" err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altLang="zh-CN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repository set up</a:t>
            </a:r>
          </a:p>
          <a:p>
            <a:pPr marL="342900" indent="-342900">
              <a:buSzPct val="100000"/>
              <a:buChar char="•"/>
            </a:pPr>
            <a:r>
              <a:rPr lang="en-US" altLang="zh-CN" sz="1000" dirty="0" err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altLang="zh-CN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960120"/>
            <a:ext cx="2834640" cy="86868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32320" y="1005840"/>
            <a:ext cx="777240" cy="7772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132320" y="1024128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1792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Sheng Hu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233172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hyperparameter tuning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altLang="zh-CN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implementation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framework (StratifiedKFold)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evaluation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 (PR curve)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set evaluation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</a:p>
          <a:p>
            <a:pPr>
              <a:buSzPct val="100000"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0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|  Practical Machine Learning  |  February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50976"/>
            <a:ext cx="54864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Alarfaj, F. K., et al. (2022). Credit Card Fraud Detection Using State-of-the-Art Machine Learning and Deep Learning Algorithms. IEEE Access, 10, 39700–39715.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316736"/>
            <a:ext cx="54864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Pozzolo, A., Caelen, O., Johnson, R. A., &amp; Bontempi, G. (2015). Calibrating Probability with Undersampling for Unbalanced Classification. IEEE Symposium Series on Computational Intelligence, 159–166.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682496"/>
            <a:ext cx="54864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20040" y="164592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Fariha, S., et al. (2025). Behavioral Feature Engineering for Credit Card Fraud Detection. Journal of Financial Data Science.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2048256"/>
            <a:ext cx="54864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20040" y="201168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Karunya, R., et al. (2025). Probability-Based kNN for Imbalanced Credit Card Fraud Detection. Expert Systems with Applications.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414016"/>
            <a:ext cx="54864" cy="201168"/>
          </a:xfrm>
          <a:prstGeom prst="rect">
            <a:avLst/>
          </a:prstGeom>
          <a:solidFill>
            <a:srgbClr val="1B2E4A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20040" y="237744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 Risk Solutions. (2023). True Cost of Fraud Study. Atlanta: LexisNexis.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2779776"/>
            <a:ext cx="54864" cy="201168"/>
          </a:xfrm>
          <a:prstGeom prst="rect">
            <a:avLst/>
          </a:prstGeom>
          <a:solidFill>
            <a:srgbClr val="1B2E4A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20040" y="274320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Marazqah Btoush, M. H., et al. (2023). A Systematic Literature Review of Credit Card Fraud Detection Using Machine Learning and Deep Learning. Results in Engineering, 18.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3145536"/>
            <a:ext cx="54864" cy="201168"/>
          </a:xfrm>
          <a:prstGeom prst="rect">
            <a:avLst/>
          </a:prstGeom>
          <a:solidFill>
            <a:srgbClr val="1B2E4A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20040" y="310896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Mienye, I. D., &amp; Jere, N. (2024). Deep Learning for Credit Card Fraud Detection: A Review of Methods, Challenges, and Future Prospects. Information, 15(9).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3511296"/>
            <a:ext cx="54864" cy="201168"/>
          </a:xfrm>
          <a:prstGeom prst="rect">
            <a:avLst/>
          </a:prstGeom>
          <a:solidFill>
            <a:srgbClr val="1B2E4A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20040" y="347472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Nilson Report. (2022). Global Card Fraud Losses. Issue 1209.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877056"/>
            <a:ext cx="54864" cy="201168"/>
          </a:xfrm>
          <a:prstGeom prst="rect">
            <a:avLst/>
          </a:prstGeom>
          <a:solidFill>
            <a:srgbClr val="17A2B8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20040" y="384048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Popova, E., &amp; Gardi, A. (2024). Hybrid Sampling Strategies for Imbalanced Fraud Detection Datasets. Pattern Recognition Letters.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4242816"/>
            <a:ext cx="54864" cy="201168"/>
          </a:xfrm>
          <a:prstGeom prst="rect">
            <a:avLst/>
          </a:prstGeom>
          <a:solidFill>
            <a:srgbClr val="17A2B8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20040" y="420624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Saito, T., &amp; Rehmsmeier, M. (2015). The Precision-Recall Plot Is More Informative than the ROC Plot When Evaluating Binary Classifiers on Imbalanced Datasets. PLoS ONE, 10(3).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4608576"/>
            <a:ext cx="54864" cy="201168"/>
          </a:xfrm>
          <a:prstGeom prst="rect">
            <a:avLst/>
          </a:prstGeom>
          <a:solidFill>
            <a:srgbClr val="17A2B8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20040" y="457200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ULB Machine Learning Group. (2018). Credit Card Fraud Detection [Dataset]. Kaggle. https://www.kaggle.com/datasets/mlg-ulb/creditcardfraud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1951</Words>
  <Application>Microsoft Office PowerPoint</Application>
  <PresentationFormat>全屏显示(16:9)</PresentationFormat>
  <Paragraphs>310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PptxGenJS</dc:creator>
  <cp:lastModifiedBy>盛 胡</cp:lastModifiedBy>
  <cp:revision>2</cp:revision>
  <dcterms:created xsi:type="dcterms:W3CDTF">2026-03-11T01:17:04Z</dcterms:created>
  <dcterms:modified xsi:type="dcterms:W3CDTF">2026-03-11T01:24:56Z</dcterms:modified>
</cp:coreProperties>
</file>