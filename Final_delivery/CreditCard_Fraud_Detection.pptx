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4BC00E-6B45-495B-8042-E2BF894B41F2}">
  <a:tblStyle styleId="{DD4BC00E-6B45-495B-8042-E2BF894B41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ed1e9a62d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ced1e9a62d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ced1e9a62d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2651760" y="0"/>
            <a:ext cx="457200" cy="5143500"/>
          </a:xfrm>
          <a:prstGeom prst="rect">
            <a:avLst/>
          </a:prstGeom>
          <a:solidFill>
            <a:srgbClr val="17A2B8">
              <a:alpha val="40000"/>
            </a:srgbClr>
          </a:solidFill>
          <a:ln cap="flat" cmpd="sng" w="12700">
            <a:solidFill>
              <a:srgbClr val="17A2B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274320" y="1280160"/>
            <a:ext cx="2103120" cy="1280160"/>
          </a:xfrm>
          <a:prstGeom prst="rect">
            <a:avLst/>
          </a:prstGeom>
          <a:solidFill>
            <a:srgbClr val="1B2E4A">
              <a:alpha val="7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274320" y="1280160"/>
            <a:ext cx="2103120" cy="292608"/>
          </a:xfrm>
          <a:prstGeom prst="rect">
            <a:avLst/>
          </a:prstGeom>
          <a:solidFill>
            <a:srgbClr val="F4B942">
              <a:alpha val="80000"/>
            </a:srgbClr>
          </a:solidFill>
          <a:ln cap="flat" cmpd="sng" w="12700">
            <a:solidFill>
              <a:srgbClr val="F4B94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320" y="13716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200400" y="640080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Card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0" y="1417320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0" y="2331720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Machine Learning-Based Detection of Fraudulent Transactions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from Anonymized Credit Card Data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200400" y="310896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17A2B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200400" y="324612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Team: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Nadezhda Shiroglazova  ·  Prathamesh Nehete  ·  Sheng Hu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00400" y="3538728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Course: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Practical Machine Learning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0" y="3831336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Dataset: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 Credit Card Fraud (MLG-ULB)  ·  284,807 transactions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200400" y="4123944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Date: 28 th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February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Questions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82880" y="914400"/>
            <a:ext cx="411480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" y="914400"/>
            <a:ext cx="54864" cy="361188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92608" y="98755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92608" y="1280160"/>
            <a:ext cx="391363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Credit card fraud causes ~$28B+ in annual losses globally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Extreme class imbalance: only 0.17% of transactions are fraudulent (1:578 ratio)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All features (V1–V28) are anonymized via PCA — no domain knowledge available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Standard accuracy is misleading: predicting "all legitimate" gives 99.83% 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Real-time detection required to prevent financial harm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480560" y="914400"/>
            <a:ext cx="448056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80560" y="914400"/>
            <a:ext cx="54864" cy="361188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645152" y="1005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663440" y="1417320"/>
            <a:ext cx="384048" cy="2743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141732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120640" y="14173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Can ML reliably identify fraud from fully anonymized transaction data?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663440" y="2167128"/>
            <a:ext cx="384048" cy="2743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63440" y="2167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120640" y="21671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Which anonymized PCA components best distinguish fraud from legitimate transactions?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663440" y="2916936"/>
            <a:ext cx="384048" cy="2743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663440" y="2916936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120640" y="291693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How do different models handle the 1:578 class imbalance?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663440" y="3666744"/>
            <a:ext cx="384048" cy="2743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63440" y="36667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120640" y="366674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What is the optimal threshold for balancing precision and recall in a fraud detection context?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5506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Key prior work informing our approach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82880" y="96012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82880" y="960120"/>
            <a:ext cx="28346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74320" y="99669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Popova &amp; Gardi (2024)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56032" y="130759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Hybrid Sampling for Fraud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56032" y="152704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Combined SMOTE with undersampling to address class imbalance in fraud detection datasets.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154680" y="96012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154680" y="960120"/>
            <a:ext cx="28346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46120" y="99669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Fariha et al. (2025)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27832" y="130759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Behavioral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27832" y="152704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Proposed time-based and behavioral features to augment anonymized PCA components.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480" y="96012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126480" y="960120"/>
            <a:ext cx="2834640" cy="3200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17920" y="99669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Marazqah Btoush et al. (2023)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99632" y="130759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ML/DL Systematic Review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99632" y="152704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Comprehensive survey: tree-based ensembles consistently outperform linear baselines on imbalanced fraud data.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82880" y="242316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82880" y="2423160"/>
            <a:ext cx="2834640" cy="3200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74320" y="245973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Mienye &amp; Jere (2024)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56032" y="277063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Deep Learning for Fraud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56032" y="299008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Focal loss and class-weighting significantly improve neural network recall on extreme imbalance.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154680" y="242316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154680" y="2423160"/>
            <a:ext cx="2834640" cy="320040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46120" y="245973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Alarfaj et al. (2022)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27832" y="277063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CNN for Fraud Detection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227832" y="299008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CNN architectures capture spatial patterns in sequential transaction data effectively.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126480" y="2423160"/>
            <a:ext cx="2834640" cy="13533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126480" y="2423160"/>
            <a:ext cx="2834640" cy="320040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217920" y="245973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Karunya et al. (2025)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199632" y="277063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Probability-based kNN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199632" y="2990088"/>
            <a:ext cx="2697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Modified kNN with probability weighting for imbalanced datasets; strong baseline for minority class.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solidFill>
            <a:srgbClr val="F4B942">
              <a:alpha val="85098"/>
            </a:srgbClr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20040" y="45994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Insight: Literature consistently recommends ensemble methods with class-weighting, PR-AUC as primary metric, and threshold optimization for fraud detection.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20040" y="575056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Understanding the dataset structure and class distributions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82880" y="960120"/>
            <a:ext cx="1874520" cy="96012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82880" y="1033272"/>
            <a:ext cx="187452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284,807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82880" y="1536192"/>
            <a:ext cx="1874520" cy="33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Transactions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194560" y="960120"/>
            <a:ext cx="1874520" cy="96012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194560" y="1033272"/>
            <a:ext cx="187452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194560" y="1536192"/>
            <a:ext cx="1874520" cy="33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Cases (0.17%)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206240" y="960120"/>
            <a:ext cx="1874520" cy="9601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206240" y="1033272"/>
            <a:ext cx="187452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578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206240" y="1536192"/>
            <a:ext cx="1874520" cy="33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Imbalance Ratio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217920" y="960120"/>
            <a:ext cx="1874520" cy="96012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217920" y="1033272"/>
            <a:ext cx="1874520" cy="5280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217920" y="1536192"/>
            <a:ext cx="1874520" cy="33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(28 PCA + Time, Amount, Class)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82880" y="2084832"/>
            <a:ext cx="4023360" cy="2852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82880" y="2084832"/>
            <a:ext cx="4023360" cy="3200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74320" y="21031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Features by Class Separation (Std. Diff)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6"/>
          <p:cNvGraphicFramePr/>
          <p:nvPr/>
        </p:nvGraphicFramePr>
        <p:xfrm>
          <a:off x="228600" y="2404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{DD4BC00E-6B45-495B-8042-E2BF894B41F2}</a:tableStyleId>
              </a:tblPr>
              <a:tblGrid>
                <a:gridCol w="731525"/>
                <a:gridCol w="1005850"/>
                <a:gridCol w="1097275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Std Diff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Legit Mean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Fraud Mean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V17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7.86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−6.67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V14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7.29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−6.97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V12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6.28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−6.26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V10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5.22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−5.68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V16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4.73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−4.61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V3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4.25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−4.14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6"/>
          <p:cNvSpPr/>
          <p:nvPr/>
        </p:nvSpPr>
        <p:spPr>
          <a:xfrm>
            <a:off x="4343400" y="2084832"/>
            <a:ext cx="4572000" cy="2852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343400" y="2084832"/>
            <a:ext cx="54864" cy="285292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453128" y="21579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453128" y="2450592"/>
            <a:ext cx="4370832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V17, V14, V12 show 6–8× standardized separation between classes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Fraud transactions: higher median amount (€122 vs €88 for legitimate)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Fraud peaks in off-hours; legitimate transactions follow daily patterns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1,081 duplicate rows — all legitimate; retained as genuine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Amount is highly skewed (skewness=16.98) — needs log transformation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V-features are orthogonal by PCA design: 0 pairs with |corr|&gt;0.3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29184" y="534924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Nade &amp; Prathamesh — transforming raw signals into model-ready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82880" y="960120"/>
            <a:ext cx="1554480" cy="777240"/>
          </a:xfrm>
          <a:prstGeom prst="rect">
            <a:avLst/>
          </a:prstGeom>
          <a:solidFill>
            <a:srgbClr val="6C7B8B"/>
          </a:solidFill>
          <a:ln cap="flat" cmpd="sng" w="12700">
            <a:solidFill>
              <a:srgbClr val="6C7B8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8288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82880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features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1755648" y="1344168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7"/>
          <p:cNvSpPr/>
          <p:nvPr/>
        </p:nvSpPr>
        <p:spPr>
          <a:xfrm>
            <a:off x="1965960" y="960120"/>
            <a:ext cx="1554480" cy="7772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96596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Cyclical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965960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Hour_Sin, Hour_Cos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3538728" y="1344168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"/>
          <p:cNvSpPr/>
          <p:nvPr/>
        </p:nvSpPr>
        <p:spPr>
          <a:xfrm>
            <a:off x="3749040" y="960120"/>
            <a:ext cx="1554480" cy="7772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74904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749040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Log_Amount, bins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5321808" y="1344168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5532120" y="960120"/>
            <a:ext cx="1554480" cy="777240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17A2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53212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532120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RobustScaler on Amount, Time, Log_Amount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7104888" y="1344168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7"/>
          <p:cNvSpPr/>
          <p:nvPr/>
        </p:nvSpPr>
        <p:spPr>
          <a:xfrm>
            <a:off x="7315200" y="960120"/>
            <a:ext cx="1554480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315200" y="98755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15200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 features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82880" y="1901952"/>
            <a:ext cx="416052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82880" y="1901952"/>
            <a:ext cx="54864" cy="301752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92608" y="197510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New Features Created (+6)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92608" y="2267712"/>
            <a:ext cx="395935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Hour_Sin / Hour_Cos — cyclical encoding of hour-of-day to preserve proximity (hour 23 ≈ hour 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Is_Night — binary flag for transactions between 10pm–6am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Log_Amount — log(Amount+1) to reduce skewness from 16.98 to ~3.0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Amount_Bin_Small — flag for micro-transactions (Amount &lt; €5)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Amount_Bin_Large — flag for high-value transactions (Amount &gt; €500)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480560" y="1901952"/>
            <a:ext cx="443484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480560" y="1901952"/>
            <a:ext cx="54864" cy="301752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90288" y="197510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Preprocessing Decisions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90288" y="2267712"/>
            <a:ext cx="423367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Train/Val/Test split (70/10/20) performed BEFORE any preprocessing — prevents data leakage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Winsorization caps computed on training only (0.1th–99.9th pct): capped at €2,929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RobustScaler fit on training only, applied to Amount, Time, Log_Amount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V1–V28 NOT scaled: already standardized by PCA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Zero features with near-zero variance — all 36 features retained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20040" y="56692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Model selection, evaluation strategy, and imbalance handling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82880" y="960120"/>
            <a:ext cx="41605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82880" y="960120"/>
            <a:ext cx="4160520" cy="292608"/>
          </a:xfrm>
          <a:prstGeom prst="rect">
            <a:avLst/>
          </a:prstGeom>
          <a:solidFill>
            <a:srgbClr val="6C7B8B"/>
          </a:solidFill>
          <a:ln cap="flat" cmpd="sng" w="12700">
            <a:solidFill>
              <a:srgbClr val="6C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74320" y="996696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  ·  Linear Baseline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74320" y="1307592"/>
            <a:ext cx="3977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L1/L2 penalty, class_weight=balanced, GridSearchCV (12 configs), 5-fold stratified CV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663440" y="960120"/>
            <a:ext cx="41605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663440" y="960120"/>
            <a:ext cx="4160520" cy="29260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754880" y="996696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 ·  Tree Ensemble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54880" y="1307592"/>
            <a:ext cx="3977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class_weight=balanced, RandomizedSearchCV (20 configs), bootstrap samples with random feature subsets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82880" y="2377440"/>
            <a:ext cx="41605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82880" y="2377440"/>
            <a:ext cx="4160520" cy="29260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74320" y="2414016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 ·  Gradient Boosting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74320" y="2724912"/>
            <a:ext cx="3977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scale_pos_weight=576.87, sequential correction of residuals, RandomizedSearchCV (20 configs)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63440" y="2377440"/>
            <a:ext cx="41605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63440" y="2377440"/>
            <a:ext cx="4160520" cy="292608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17A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54880" y="2414016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Network  ·  Deep Learning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54880" y="2724912"/>
            <a:ext cx="3977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Architecture: 256→128→64→32→1, Focal Loss vs BCE, early stopping, dropout regularization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82880" y="4005072"/>
            <a:ext cx="8778240" cy="96012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20040" y="403250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Evaluation Strategy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0040" y="4261104"/>
            <a:ext cx="8549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metric: PR-AUC (most honest for 0.17% imbalance)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Secondary: F1-Score, Recall, Precision, ROC-AUC, MCC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optimization on validation set for maximum F1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set held out until final evaluation of best model only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Considerations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20040" y="55626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From research prototype to production fraud detection 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82880" y="960120"/>
            <a:ext cx="402336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82880" y="960120"/>
            <a:ext cx="4023360" cy="3200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74320" y="9875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 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20040" y="1371600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20040" y="1371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31520" y="13898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Ingest Transaction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31520" y="155448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Receive Time, Amount, V1–V28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9"/>
          <p:cNvCxnSpPr/>
          <p:nvPr/>
        </p:nvCxnSpPr>
        <p:spPr>
          <a:xfrm>
            <a:off x="480060" y="1709928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D0D7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5" name="Google Shape;215;p9"/>
          <p:cNvSpPr/>
          <p:nvPr/>
        </p:nvSpPr>
        <p:spPr>
          <a:xfrm>
            <a:off x="320040" y="1938528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20040" y="19385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31520" y="1956816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31520" y="212140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Compute Hour_Sin/Cos, Is_Night, Log_Amount, Amount bins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9"/>
          <p:cNvCxnSpPr/>
          <p:nvPr/>
        </p:nvCxnSpPr>
        <p:spPr>
          <a:xfrm>
            <a:off x="480060" y="2276856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D0D7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320040" y="2505456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20040" y="25054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31520" y="2523744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Scale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31520" y="2688336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Apply saved RobustScaler to Amount, Time, Log_Amount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480060" y="2843784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D0D7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320040" y="3072384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20040" y="30723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31520" y="3090672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Predict Score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31520" y="3255264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XGBoost outputs fraud probability (0–1)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9"/>
          <p:cNvCxnSpPr/>
          <p:nvPr/>
        </p:nvCxnSpPr>
        <p:spPr>
          <a:xfrm>
            <a:off x="480060" y="3410712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D0D7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0" name="Google Shape;230;p9"/>
          <p:cNvSpPr/>
          <p:nvPr/>
        </p:nvSpPr>
        <p:spPr>
          <a:xfrm>
            <a:off x="320040" y="3639312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" y="3639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731520" y="365760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Apply Threshold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31520" y="3822192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Flag as fraud if score &gt; 0.988 (optimized)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480060" y="3977640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D0D7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5" name="Google Shape;235;p9"/>
          <p:cNvSpPr/>
          <p:nvPr/>
        </p:nvSpPr>
        <p:spPr>
          <a:xfrm>
            <a:off x="320040" y="4206240"/>
            <a:ext cx="320040" cy="3200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20040" y="42062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31520" y="422452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Alert &amp; Log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31520" y="43891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B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C7B8B"/>
                </a:solidFill>
                <a:latin typeface="Calibri"/>
                <a:ea typeface="Calibri"/>
                <a:cs typeface="Calibri"/>
                <a:sym typeface="Calibri"/>
              </a:rPr>
              <a:t>Block/flag transaction; log decision for audit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343400" y="960120"/>
            <a:ext cx="45720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343400" y="960120"/>
            <a:ext cx="54864" cy="18288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453128" y="103327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Model Artifacts to Save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453128" y="1325880"/>
            <a:ext cx="43708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Trained XGBoost model (pickle / joblib)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Fitted RobustScaler (for Amount, Time, Log_Amount)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Optimal threshold value: 0.9880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Feature list (36 features, exact order)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343400" y="2926080"/>
            <a:ext cx="457200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343400" y="2926080"/>
            <a:ext cx="54864" cy="196596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453128" y="299923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Production Considerations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453128" y="3291840"/>
            <a:ext cx="437083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Retrain periodically — fraud patterns evolve (concept drift)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Monitor precision &amp; recall in production; alert on metric drops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Log all predictions for regulatory audit trails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Consider ensemble with rule-based system for high-value transactions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Threshold can be adjusted by business depending on risk appetite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Findings &amp; Conclusions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20040" y="5608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model evaluation and final test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82880" y="960120"/>
            <a:ext cx="8778240" cy="29260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0"/>
          <p:cNvGraphicFramePr/>
          <p:nvPr/>
        </p:nvGraphicFramePr>
        <p:xfrm>
          <a:off x="18288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{DD4BC00E-6B45-495B-8042-E2BF894B41F2}</a:tableStyleId>
              </a:tblPr>
              <a:tblGrid>
                <a:gridCol w="1920250"/>
                <a:gridCol w="1097275"/>
                <a:gridCol w="1188725"/>
                <a:gridCol w="914400"/>
                <a:gridCol w="1005850"/>
                <a:gridCol w="1188725"/>
                <a:gridCol w="118872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PR-AUC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MCC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B94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4B942"/>
                          </a:solidFill>
                        </a:rPr>
                        <a:t>⭐ XGBoost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7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E7C7B"/>
                          </a:solidFill>
                        </a:rPr>
                        <a:t>0.8072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433"/>
                          </a:solidFill>
                        </a:rPr>
                        <a:t>0.9737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433"/>
                          </a:solidFill>
                        </a:rPr>
                        <a:t>0.8372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433"/>
                          </a:solidFill>
                        </a:rPr>
                        <a:t>0.7347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7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E7C7B"/>
                          </a:solidFill>
                        </a:rPr>
                        <a:t>0.9730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433"/>
                          </a:solidFill>
                        </a:rPr>
                        <a:t>0.8453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2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7A2B8"/>
                          </a:solidFill>
                        </a:rPr>
                        <a:t>NN (Focal)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0.7884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0.9175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0.8539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0.7755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0.9500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0.8581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Random Forest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0.7850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0.9351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0.8140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0.7143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0.9459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0.8217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Logistic Regression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0.6645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0.9661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0.7742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0.7347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0.8182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0.7749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Baseline (Majority)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0.5000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0.0000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0.0000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B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C7B8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10"/>
          <p:cNvSpPr/>
          <p:nvPr/>
        </p:nvSpPr>
        <p:spPr>
          <a:xfrm>
            <a:off x="182880" y="3246120"/>
            <a:ext cx="4114800" cy="169164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74320" y="3291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🏆 Final Test Set Results — XGBoost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0040" y="3657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Precision: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143000" y="36576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0.9500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331720" y="3657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Recall: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154680" y="36576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0.7755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20040" y="402336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F1-Score: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143000" y="40233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0.8539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331720" y="402336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PR-AUC: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154680" y="40233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0.8072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20040" y="4389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Accuracy: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143000" y="4389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99.95%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331720" y="4389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Test Threshold: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154680" y="4389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0.9880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434840" y="3246120"/>
            <a:ext cx="45720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434840" y="3246120"/>
            <a:ext cx="54864" cy="169164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44568" y="331927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Key Conclusions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44568" y="3611880"/>
            <a:ext cx="437083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XGBoost selected as best model: highest PR-AUC (0.8072) on validation 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V17, V14, V12 are the most discriminative features (&gt;6σ separation)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PR-AUC is the right metric — accuracy is misleading with 1:578 imbalance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Threshold optimization (0.988) critical for business-optimal precision/recall balance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09728" y="0"/>
            <a:ext cx="9034200" cy="77730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2004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Question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82880" y="498348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82875" y="960125"/>
            <a:ext cx="8778300" cy="30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82875" y="1198525"/>
            <a:ext cx="81684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RQ1 — Can ML reliably identify fraud from fully anonymized transaction data?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Yes — XGBoost achieved 95% precision and 0.81 PR-AUC on the test set, proving ML can reliably detect fraud from anonymized data despite a 1:578 class imbalance.</a:t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RQ2 — Which anonymized PCA components best distinguish fraud from legitimate transactions?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V17, V14, and V12 — with standardized class separations of 7.86, 7.29, and 6.28, their fraud means are ~7 standard deviations below legitimate transaction means.</a:t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RQ3 — How do different models handle the 1:578 class imbalance?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All models used class-weighting to counter imbalance. XGBoost (scale_pos_weight=577) performed best; the majority-class baseline scored F1=0.00 on fraud, confirming accuracy alone is useless here.</a:t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RQ4 — What is the optimal threshold for balancing precision and recall in a fraud detection context?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XGBoost's optimal threshold was 0.988 (vs. default 0.5), tuned via the precision-recall curve to maximize F1 — balancing fraud catch rate against false alarm cost.</a:t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82880" y="4526280"/>
            <a:ext cx="8778300" cy="347400"/>
          </a:xfrm>
          <a:prstGeom prst="rect">
            <a:avLst/>
          </a:prstGeom>
          <a:solidFill>
            <a:srgbClr val="1B2E4A">
              <a:alpha val="85100"/>
            </a:srgbClr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20040" y="4562856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Work: Test SMOTE hybrid sampling · Incorporate graph-based features · Explore online/streaming fraud detection · Investigate model explainability (SHAP) for regulatory compliance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20040" y="557784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Honest assessment of constraints and areas for improvement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82880" y="96012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82880" y="960120"/>
            <a:ext cx="54864" cy="132588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292608" y="10332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Feature Anonymization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92608" y="132588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V1–V28 are PCA-transformed with no domain meaning. Domain-driven feature engineering (merchant category, geographic patterns, transaction velocity) is impossible.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3154680" y="96012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154680" y="960120"/>
            <a:ext cx="54864" cy="132588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264408" y="10332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Static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3264408" y="132588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dataset covers only 2 days of transactions. Real fraud patterns evolve over time — concept drift may significantly degrade model performance in production.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26480" y="96012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126480" y="960120"/>
            <a:ext cx="54864" cy="132588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236208" y="10332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Extreme Class Imbalance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236208" y="132588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Only 492 fraud cases in 284,807 transactions. Neural networks and deep learning are constrained by limited fraud examples; generalization of minority class is uncertain.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82880" y="242316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82880" y="2423160"/>
            <a:ext cx="54864" cy="132588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292608" y="24963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Overfitting 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292608" y="278892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Train/val PR-AUC gap of 0.147 (RF) and 0.137 (XGBoost) indicates memorization on training folds. Regularization improved but did not fully resolve this.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154680" y="242316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154680" y="2423160"/>
            <a:ext cx="54864" cy="132588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3264408" y="24963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Sampling Strategy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264408" y="278892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SMOTE oversampling was not tested. Literature (Popova &amp; Gardi, 2024) suggests hybrid sampling may further improve minority class recall beyond class-weighting alone.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126480" y="2423160"/>
            <a:ext cx="28346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126480" y="2423160"/>
            <a:ext cx="54864" cy="132588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236208" y="24963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Business Threshold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236208" y="2788920"/>
            <a:ext cx="26334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Optimal threshold of 0.988 was selected purely by F1. Real deployment requires domain expertise to weigh false positive cost (customer friction) vs false negative cost (fraud loss).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82880" y="4526280"/>
            <a:ext cx="8778240" cy="347472"/>
          </a:xfrm>
          <a:prstGeom prst="rect">
            <a:avLst/>
          </a:prstGeom>
          <a:solidFill>
            <a:srgbClr val="1B2E4A">
              <a:alpha val="85098"/>
            </a:srgbClr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20040" y="456285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Work: Test SMOTE hybrid sampling · Incorporate graph-based features · Explore online/streaming fraud detection · Investigate model explainability (SHAP) for regulatory compliance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the Team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20040" y="539496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Roles and contributions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82880" y="960120"/>
            <a:ext cx="283464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82880" y="960120"/>
            <a:ext cx="2834640" cy="86868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1887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88720" y="1024128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27432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Nadezhda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Shiroglazova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320040" y="233172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Dataset loading &amp; initial exploration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Class distribution analysis &amp; EDA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V-feature separation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Outlier &amp; duplicate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Train/Validation/Test splitting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Feature engineering (Time features)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Preliminary baseline modeling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Data leakage prevention checklist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Neural Network design (Focal Loss)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154680" y="960120"/>
            <a:ext cx="283464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3154680" y="960120"/>
            <a:ext cx="2834640" cy="86868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1605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160520" y="1024128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24612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Prathamesh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E4A"/>
                </a:solidFill>
                <a:latin typeface="Calibri"/>
                <a:ea typeface="Calibri"/>
                <a:cs typeface="Calibri"/>
                <a:sym typeface="Calibri"/>
              </a:rPr>
              <a:t>Nehete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3291840" y="233172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Amount transformation &amp; winsorization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Cyclical encoding (Hour_Sin/Cos)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Scaling strategy (RobustScaler)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Random Forest 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Correlation &amp; EDA visualizations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Github repository set up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XGBoost modeling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126480" y="960120"/>
            <a:ext cx="2834640" cy="868680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17A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1323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132320" y="1024128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621792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Sheng Hu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6263640" y="233172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All models hyperparameter tuning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Logistic Regression 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Cross-validation framework (StratifiedKFold)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Model comparison &amp; evaluation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Threshold optimization (PR curve)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Final test set evaluation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Conclusions &amp; 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1B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7D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0D7DE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  |  Practical Machine Learning  |  February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82880" y="950976"/>
            <a:ext cx="54864" cy="20116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20040" y="91440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Alarfaj, F. K., et al. (2022). Credit Card Fraud Detection Using State-of-the-Art Machine Learning and Deep Learning Algorithms. IEEE Access, 10, 39700–39715.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82880" y="1316736"/>
            <a:ext cx="54864" cy="20116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320040" y="128016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Dal Pozzolo, A., Caelen, O., Johnson, R. A., &amp; Bontempi, G. (2015). Calibrating Probability with Undersampling for Unbalanced Classification. IEEE Symposium Series on Computational Intelligence, 159–166.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82880" y="1682496"/>
            <a:ext cx="54864" cy="20116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20040" y="164592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Fariha, S., et al. (2025). Behavioral Feature Engineering for Credit Card Fraud Detection. Journal of Financial Data Science.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82880" y="2048256"/>
            <a:ext cx="54864" cy="201168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320040" y="201168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Karunya, R., et al. (2025). Probability-Based kNN for Imbalanced Credit Card Fraud Detection. Expert Systems with Applications.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82880" y="2414016"/>
            <a:ext cx="54864" cy="20116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20040" y="237744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LexisNexis Risk Solutions. (2023). True Cost of Fraud Study. Atlanta: LexisNexis.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182880" y="2779776"/>
            <a:ext cx="54864" cy="20116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20040" y="274320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Marazqah Btoush, M. H., et al. (2023). A Systematic Literature Review of Credit Card Fraud Detection Using Machine Learning and Deep Learning. Results in Engineering, 18.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82880" y="3145536"/>
            <a:ext cx="54864" cy="20116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20040" y="310896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Mienye, I. D., &amp; Jere, N. (2024). Deep Learning for Credit Card Fraud Detection: A Review of Methods, Challenges, and Future Prospects. Information, 15(9).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82880" y="3511296"/>
            <a:ext cx="54864" cy="201168"/>
          </a:xfrm>
          <a:prstGeom prst="rect">
            <a:avLst/>
          </a:prstGeom>
          <a:solidFill>
            <a:srgbClr val="1B2E4A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20040" y="347472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Nilson Report. (2022). Global Card Fraud Losses. Issue 1209.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82880" y="3877056"/>
            <a:ext cx="54864" cy="201168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320040" y="384048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Popova, E., &amp; Gardi, A. (2024). Hybrid Sampling Strategies for Imbalanced Fraud Detection Datasets. Pattern Recognition Letters.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82880" y="4242816"/>
            <a:ext cx="54864" cy="201168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320040" y="420624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Saito, T., &amp; Rehmsmeier, M. (2015). The Precision-Recall Plot Is More Informative than the ROC Plot When Evaluating Binary Classifiers on Imbalanced Datasets. PLoS ONE, 10(3).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182880" y="4608576"/>
            <a:ext cx="54864" cy="201168"/>
          </a:xfrm>
          <a:prstGeom prst="rect">
            <a:avLst/>
          </a:prstGeom>
          <a:solidFill>
            <a:srgbClr val="17A2B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320040" y="4572000"/>
            <a:ext cx="8641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ULB Machine Learning Group. (2018). Credit Card Fraud Detection [Dataset]. Kaggle. https://www.kaggle.com/datasets/mlg-ulb/creditcardfraud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