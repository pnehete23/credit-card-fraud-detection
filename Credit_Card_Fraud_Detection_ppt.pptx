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Neural Network</c:v>
                </c:pt>
                <c:pt idx="3">
                  <c:v>Autoencoder</c:v>
                </c:pt>
                <c:pt idx="4">
                  <c:v>Logistic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0.83520000000000005</c:v>
                </c:pt>
                <c:pt idx="1">
                  <c:v>0.81969999999999998</c:v>
                </c:pt>
                <c:pt idx="2">
                  <c:v>0.69769999999999999</c:v>
                </c:pt>
                <c:pt idx="3">
                  <c:v>0.55169999999999997</c:v>
                </c:pt>
                <c:pt idx="4">
                  <c:v>8.2500000000000004E-2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15-524C-A21A-308FD9B58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Neural Network</c:v>
                </c:pt>
                <c:pt idx="3">
                  <c:v>Autoencoder</c:v>
                </c:pt>
                <c:pt idx="4">
                  <c:v>Logistic Regression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0.97130000000000005</c:v>
                </c:pt>
                <c:pt idx="1">
                  <c:v>0.96230000000000004</c:v>
                </c:pt>
                <c:pt idx="2">
                  <c:v>0.93930000000000002</c:v>
                </c:pt>
                <c:pt idx="3">
                  <c:v>0.95230000000000004</c:v>
                </c:pt>
                <c:pt idx="4">
                  <c:v>0.95750000000000002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15-524C-A21A-308FD9B588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07C1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Neural Network</c:v>
                </c:pt>
                <c:pt idx="3">
                  <c:v>Autoencoder</c:v>
                </c:pt>
                <c:pt idx="4">
                  <c:v>Logistic Regression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0.87360000000000004</c:v>
                </c:pt>
                <c:pt idx="1">
                  <c:v>0.85229999999999995</c:v>
                </c:pt>
                <c:pt idx="2">
                  <c:v>0.625</c:v>
                </c:pt>
                <c:pt idx="3">
                  <c:v>0.60760000000000003</c:v>
                </c:pt>
                <c:pt idx="4">
                  <c:v>4.3299999999999998E-2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15-524C-A21A-308FD9B58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33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3.png"/><Relationship Id="rId5" Type="http://schemas.openxmlformats.org/officeDocument/2006/relationships/image" Target="../media/image11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4572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Methodology | Kaggle Dataset | 5 ML/DL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Pipeline: Data Collection → Feature Engineering → Model Development → Deployment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github.com/pnehete23/credit-card-fraud-detection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 &amp;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9372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Together: Complete ML Solution Using CRISP-DM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7907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" cy="18135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223010" y="1203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costs $28.65 billion annually (Nilson Report). Financial institutions need automated, real-time detection with: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accuracy (minimize fraud losses)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false positives (avoid customer friction)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processing (&lt;1 second latency)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81100"/>
            <a:ext cx="3931920" cy="17754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91440" cy="17678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5429250" y="121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Build automated end-to-end ML pipeline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Compare 5 ML/DL algorithms systematically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Handle severe class imbalance (0.17% fraud)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Optimize for both precision and recall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Deploy production-ready solution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Provide actionable recommendations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3434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11480" y="355854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49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7566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0584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0.80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2583180" y="355854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770" y="38023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143250" y="37414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1546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0.95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754880" y="353568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610" y="38023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37414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303520" y="39090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0.85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6888480" y="353568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382524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52360" y="3749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45236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CRISP-DM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Approach to ML Project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32588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Business Understanding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fraud detection objectives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success metrics (F1&gt;0.8, AUC&gt;0.95)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stakeholders &amp; constraints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7560" y="1280160"/>
            <a:ext cx="2743200" cy="13258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Data Understanding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7472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Kaggle dataset: 284,807 transactions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492 frauds (0.17% - severe imbalance)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 PCA features + Amount, Time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743200" cy="132588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Data Preparation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5508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scaling (StandardScaler)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SMOTE &amp; Random Undersampling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Train-test split (stratified)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2788920"/>
            <a:ext cx="2743200" cy="13258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Modeling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9436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algorithms: XGBoost, RF, NN, AE, LR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Hyperparameter optimization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Cross-validation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337560" y="2788920"/>
            <a:ext cx="2743200" cy="132588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926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Evaluation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47472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 metrics comparison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Precision-recall trade-offs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impact analysis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217920" y="2788920"/>
            <a:ext cx="2743200" cy="1325880"/>
          </a:xfrm>
          <a:prstGeom prst="rect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9260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Deployment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35508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pipeline deployment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monitoring &amp; drift detection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Retraining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COLLECTION &amp; UNDERSTANDING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6240" y="92125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Credit Card Fraud Dataset - Exploratory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284,807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cardholders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Cases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134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imbalance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V1-V28 (PCA) + 2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CHARACTERISTICS &amp; CHALLENGES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3931920" cy="2118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34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IDENTIFIED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4518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Extreme Class Imbalance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Only 0.17% fraudulent transactions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Standard models will bias toward majority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Anonymized Features (PCA)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V1-V28 are PCA-transformed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Limited domain interpretation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Time-Series Nature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Transactions over 2 days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Need chronological train-test split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3931920" cy="21183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SOLUTIONS IMPLEMENTED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383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Resampling Techniques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SMOTE (Synthetic Minority Oversampling)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Random Undersampling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Class weights in algorithms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 Engineering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StandardScaler normalization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Feature importance analysis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Evaluation Strategy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Focus on F1-Score, AUC-PR over accuracy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Stratified cross-validation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END-TO-END ML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908" y="9829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Production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11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28142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API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0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773936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116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65376" y="2011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865376" y="225856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Nulls, Outliers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871216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2999232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412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90672" y="2011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090672" y="2257044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Scaling, PCA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096512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4224528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708" y="15087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15968" y="2011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315968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SMOTE/RUS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321808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5449824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7004" y="15087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41264" y="197510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541264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Algorithms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547104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6675120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300" y="150876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2011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6766560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Metrics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7772400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6"/>
          <p:cNvSpPr/>
          <p:nvPr/>
        </p:nvSpPr>
        <p:spPr>
          <a:xfrm>
            <a:off x="7900416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7596" y="1508760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991856" y="2011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7991856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2429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15768"/>
            <a:ext cx="411480" cy="4114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234440" y="26974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github.com/pnehete23/credit-card-fraud-detection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234440" y="29718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 including notebooks, scripts, models, and documentation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BENEFITS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3904488"/>
            <a:ext cx="320040" cy="32004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584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Version-controlled code &amp; data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260604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3200" y="3904488"/>
            <a:ext cx="320040" cy="32004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315468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Scalable: Handles millions of transactions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475488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904488"/>
            <a:ext cx="320040" cy="32004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30352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End-to-end without manual intervention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690372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3904488"/>
            <a:ext cx="320040" cy="32004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745236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Monitored: Real-time performance tracking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 &amp; PREPARATION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429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Raw Data into Model-Ready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&amp; Normalization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StandardScaler for Amount &amp; Time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Z-score normalization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Preserves distribution shape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7560" y="1280160"/>
            <a:ext cx="2743200" cy="118872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Handling Imbalance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SMOTE (Synthetic Minority)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Undersampling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Combined approach: best results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5508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Correlation analysis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importance (tree-based)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low-variance features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RESAMPLING STRATEGY COMPARISON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063240"/>
            <a:ext cx="82296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3474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(Imbalanced)		492			284,315			1:578		Poor recall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367588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Only		284,315			284,315			1:1		Overfitting risk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40080" y="387705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Undersample		492			492			1:1		Information loss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94360" y="42062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(SMOTE + RUS)		~50,000			~50,000			1:1		</a:t>
            </a:r>
            <a:r>
              <a:rPr lang="en-US" sz="9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DEVELOPMENT &amp; TRAINING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Comparison of 5 ML/DL Algorithms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E1F5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max_depth: 6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n_estimators: 100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learning_rate: 0.1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1325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Learning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n_estimators: 100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max_features: sqrt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min_samples_split: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1325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patterns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Layers: [128, 64, 32]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Activation: ReLU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Dropout: 0.3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436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Autoencoder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detection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DL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Encoder: [16, 8, 4]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Decoder: [8, 16, 30]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Anomaly detection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37560" y="26517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337560" y="26517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47472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472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Solver: lbfgs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C: 1.0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Penalty: l2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0760" y="2651760"/>
            <a:ext cx="2606040" cy="11887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17920" y="2697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0861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Stratified K-Fold CV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Grid Search for params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Early stopping (NN/AE)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 weight balancing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Reproducible seeds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 &amp;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6240" y="96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Performance Analysis Across 7 Metrics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MODEL RANKINGS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Emerges as Clear Winner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548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81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0.8352 | Precision: 0.8736 | Recall: 0.8000 | Time: 8.8s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144475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931920" y="1444752"/>
            <a:ext cx="4754880" cy="21945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44277" y="14371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0.8352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8872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221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0.8197 | Precision: 0.8523 | Recall: 0.7895 | Time: 141.6s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208483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931920" y="2084832"/>
            <a:ext cx="4666637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44277" y="208483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0.8197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580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88720" y="2633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8620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0.6977 | Precision: 0.6250 | Recall: 0.7895 | Time: 41.8s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72491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931920" y="2724912"/>
            <a:ext cx="3972078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995437" y="2724912"/>
            <a:ext cx="6031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0.6977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0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18872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35021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0.5517 | Precision: 0.6076 | Recall: 0.5053 | Time: 16.2s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336499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931920" y="3364992"/>
            <a:ext cx="3140885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64244" y="3364992"/>
            <a:ext cx="631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0.5517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8580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188720" y="3913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88720" y="41422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0.0825 | Precision: 0.0433 | Recall: 0.8632 | Time: 47.2s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0" y="400507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931920" y="4005072"/>
            <a:ext cx="469681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493040" y="4005072"/>
            <a:ext cx="5971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&amp;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From This ML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86868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173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Dominates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F1-Score (0.835), highest AUC-ROC (0.971), and fastest training (8.8s). Optimal for production deployment with real-time requirements.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00600" y="1280160"/>
            <a:ext cx="4114800" cy="8686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173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 Matters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4068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trains 16x faster than Random Forest while maintaining better performance. Critical for frequent retraining as fraud patterns evolve.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4114800" cy="868680"/>
          </a:xfrm>
          <a:prstGeom prst="rect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4231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Precision-Recall Trade-off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" y="2697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achieves high recall (86.3%) but poor precision (4.3%) - would flag 96% of alerts incorrectly. Balance is crucial.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800600" y="2286000"/>
            <a:ext cx="4114800" cy="86868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23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4231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Resampling Impact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40680" y="2697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SMOTE + Random Undersampling significantly improved performance across all models. Essential for handling extreme imbalance.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3291840"/>
            <a:ext cx="4114800" cy="8686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4290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4290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 Selection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97280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misleading with imbalanced data (99.8% by predicting all normal). F1-Score and AUC-PR provide better evaluation.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800600" y="3291840"/>
            <a:ext cx="4114800" cy="86868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4290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4290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 Limitations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40680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and autoencoders underperformed tree-based models. Require more data and tuning for tabular data with engineered features.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the Value of ML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83.5%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actual fraud cases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flagged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&lt;50ms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(est.)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COST-BENEFIT ANALYSIS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3931920" cy="1668780"/>
          </a:xfrm>
          <a:prstGeom prst="rect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7813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34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Development: $150K (6 months)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Infrastructure: $30K/year (AWS)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Maintenance: $50K/year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friction: ~$200K/year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review: ~$100K/year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3931920" cy="16687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54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Prevention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Estimated fraud: $3.5M/year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Detection rate: 83.5%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Prevented: $2.9M/year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review: $200K/year saved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processing: $100K/year value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4480560"/>
            <a:ext cx="3657600" cy="5029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92608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 ANNUAL BENEFIT: $2.4M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TO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Action Plan for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" cy="9144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258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ACTION: Deploy XGBoost Model to Production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691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delivers optimal balance of accuracy (F1: 0.835), speed (8.8s training), and efficiency. Ready for immediate deployment with expected ROI of $2.4M annually.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IMPLEMENTATION PLAN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27432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9436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 (Month 1-2)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461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XGBoost to shadow mode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performance vs. current system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10% of live transactions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 baseline metrics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" y="4160520"/>
            <a:ext cx="2743200" cy="9144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594360" y="4160520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 weeks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337560" y="2743200"/>
            <a:ext cx="27432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3337560" y="274320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34747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Rollout (Month 3-4)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461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7472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Gradual increase to 50% traffic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A/B testing against existing system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Fine-tune decision thresholds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operations team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337560" y="4160520"/>
            <a:ext cx="2743200" cy="9144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3474720" y="4160520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 weeks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217920" y="2743200"/>
            <a:ext cx="27432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6217920" y="274320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35508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Full Production (Month 5-6)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24612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5508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traffic migration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retraining pipeline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monitoring dashboard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response protocols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6217920" y="4160520"/>
            <a:ext cx="2743200" cy="9144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4"/>
          <p:cNvSpPr/>
          <p:nvPr/>
        </p:nvSpPr>
        <p:spPr>
          <a:xfrm>
            <a:off x="6355080" y="4160520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 weeks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MITIGATION &amp;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Long-Term Success &amp; Reliability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37160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Drift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47900" y="1481328"/>
            <a:ext cx="8153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1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performance monitoring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retraining schedule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drift detection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Champion-challenger framework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743200" cy="137160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34940" y="1481328"/>
            <a:ext cx="800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1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47472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7472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Fraud pattern analysis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importance tracking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Adaptive learning pipeline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review process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217920" y="1280160"/>
            <a:ext cx="2743200" cy="137160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Failure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802880" y="1399032"/>
            <a:ext cx="10439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35508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5508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Fallback to rule-based system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99.9% uptime SLA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Redundant infrastructure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health checks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CONTINUOUS MONITORING STRATEGY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3200400"/>
            <a:ext cx="8229600" cy="10515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33375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Daily: F1-Score, Precision, Recall, False Positive Rate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6616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35661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Weekly: Model drift analysis, Feature importance shifts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4400" y="37947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Full retraining with updated data, A/B testing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4400" y="40233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Quarterly: Business impact review, Cost-benefit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4572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end-to-end automated ML pipeline following CRISP-DM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XGBoost identified as optimal model (F1: 0.835, AUC: 0.971, 8.8s training)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Projected $2.4M annual ROI with 83.5% fraud detection rate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 for phased deployment starting Q2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-169926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NEXT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726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Approve pilot deployment (2 months, $50K budget)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Allocate infrastructure resources (AWS, monitoring tools)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Assemble deployment team (2 ML engineers, 1 DevOps)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Schedule kickoff meeting for Week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1623</Words>
  <Application>Microsoft Macintosh PowerPoint</Application>
  <PresentationFormat>全屏显示(16:9)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- End-to-End ML Pipeline</dc:title>
  <dc:subject>PptxGenJS Presentation</dc:subject>
  <dc:creator>Data Science Team</dc:creator>
  <cp:lastModifiedBy>盛 胡</cp:lastModifiedBy>
  <cp:revision>2</cp:revision>
  <dcterms:created xsi:type="dcterms:W3CDTF">2026-02-09T01:04:14Z</dcterms:created>
  <dcterms:modified xsi:type="dcterms:W3CDTF">2026-02-09T01:13:52Z</dcterms:modified>
</cp:coreProperties>
</file>