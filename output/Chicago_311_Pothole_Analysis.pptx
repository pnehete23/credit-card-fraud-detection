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Records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623532</c:v>
                </c:pt>
                <c:pt idx="1">
                  <c:v>546122</c:v>
                </c:pt>
                <c:pt idx="2">
                  <c:v>795062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Mean Resolution Days – Top Request Types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Days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Tree Removal</c:v>
                  </c:pt>
                  <c:pt idx="1">
                    <c:v>Building Violation</c:v>
                  </c:pt>
                  <c:pt idx="2">
                    <c:v>Blue Recycling Cart</c:v>
                  </c:pt>
                  <c:pt idx="3">
                    <c:v>Tree Trim Request</c:v>
                  </c:pt>
                  <c:pt idx="4">
                    <c:v>Garbage Cart</c:v>
                  </c:pt>
                  <c:pt idx="5">
                    <c:v>Pothole Complaint</c:v>
                  </c:pt>
                  <c:pt idx="6">
                    <c:v>Abandoned Vehicle</c:v>
                  </c:pt>
                  <c:pt idx="7">
                    <c:v>Street Light Out</c:v>
                  </c:pt>
                  <c:pt idx="8">
                    <c:v>Rodent Baiting</c:v>
                  </c:pt>
                  <c:pt idx="9">
                    <c:v>Dead Animal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144.6</c:v>
                </c:pt>
                <c:pt idx="1">
                  <c:v>67.09</c:v>
                </c:pt>
                <c:pt idx="2">
                  <c:v>33.46</c:v>
                </c:pt>
                <c:pt idx="3">
                  <c:v>39.19</c:v>
                </c:pt>
                <c:pt idx="4">
                  <c:v>19.17</c:v>
                </c:pt>
                <c:pt idx="5">
                  <c:v>23.52</c:v>
                </c:pt>
                <c:pt idx="6">
                  <c:v>18.61</c:v>
                </c:pt>
                <c:pt idx="7">
                  <c:v>11.56</c:v>
                </c:pt>
                <c:pt idx="8">
                  <c:v>7.45</c:v>
                </c:pt>
                <c:pt idx="9">
                  <c:v>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Median Wait Days by Ward Income Quartile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Wait (days)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 Lowest
(&lt;$72K)</c:v>
                  </c:pt>
                  <c:pt idx="1">
                    <c:v>Q2
($72–$87K)</c:v>
                  </c:pt>
                  <c:pt idx="2">
                    <c:v>Q3
($87–$101K)</c:v>
                  </c:pt>
                  <c:pt idx="3">
                    <c:v>Q4 Highest
(&gt;$101K)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4.97</c:v>
                </c:pt>
                <c:pt idx="1">
                  <c:v>3.07</c:v>
                </c:pt>
                <c:pt idx="2">
                  <c:v>2.63</c:v>
                </c:pt>
                <c:pt idx="3">
                  <c:v>2.77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Estimated Damage Costs ($M / $1700 per req)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Chicago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Total 3-Year
Damage Cost</c:v>
                  </c:pt>
                  <c:pt idx="1">
                    <c:v>Annual
Damage Cost</c:v>
                  </c:pt>
                  <c:pt idx="2">
                    <c:v>Cost per
Request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174.8</c:v>
                </c:pt>
                <c:pt idx="1">
                  <c:v>58.3</c:v>
                </c:pt>
                <c:pt idx="2">
                  <c:v>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 NYC Pace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Total 3-Year
Damage Cost</c:v>
                  </c:pt>
                  <c:pt idx="1">
                    <c:v>Annual
Damage Cost</c:v>
                  </c:pt>
                  <c:pt idx="2">
                    <c:v>Cost per
Request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38.6</c:v>
                </c:pt>
                <c:pt idx="1">
                  <c:v>12.9</c:v>
                </c:pt>
                <c:pt idx="2">
                  <c:v>0.375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46220"/>
            <a:ext cx="2743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497580"/>
            <a:ext cx="2743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863340"/>
            <a:ext cx="2743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314700"/>
            <a:ext cx="27432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3771900"/>
            <a:ext cx="2743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4137660"/>
            <a:ext cx="2743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3589020"/>
            <a:ext cx="2743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3954780"/>
            <a:ext cx="2743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3954780"/>
            <a:ext cx="2743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406140"/>
            <a:ext cx="2743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863340"/>
            <a:ext cx="274320" cy="1280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3223260"/>
            <a:ext cx="2743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680460"/>
            <a:ext cx="27432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4046220"/>
            <a:ext cx="2743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3497580"/>
            <a:ext cx="27432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5EEAD4"/>
                </a:solidFill>
              </a:rPr>
              <a:t>CHICAGO 311 SERVICE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Pothole Complaints &amp;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Infrastructure Response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Northwestern University  •  MSDS 420 Final Project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Sheng, Nadia &amp; Dawson  •  2022–2024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POTHOLE?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A pothole is a bowl-shaped depression in a road surface caused by repeated traffic load, water infiltration, and freeze-thaw cycles weakening the asphalt.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5EEAD4"/>
                </a:solidFill>
              </a:rPr>
              <a:t>Chicago's harsh winters make it one of the most pothole-prone cities in the US.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40480" y="3200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Chicago 311 Service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0" y="100584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0" y="100584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0789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🏙️  City of Chicago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77640" y="1353312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311 is Chicago's non-emergency city services line — the backbone of resident-to-government communication.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196596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196596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0391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📊  Data Source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2313432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Chicago Data Portal: 311 Service Requests dataset, 2022–2024. Over 10.4M raw records across 37 fields.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0" y="292608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292608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2999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🕳️  Pothole Focus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3273552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Pothole In Street Complaints are the #3 most common actionable request, with 488,692 filed over 3 years.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0" y="3886200"/>
            <a:ext cx="50292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3886200"/>
            <a:ext cx="54864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3959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⏱️  Why Response Time?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4233672"/>
            <a:ext cx="4754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Every day a pothole goes unrepaired risks vehicle damage, accidents, and resident dissatisfaction.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Chicago 311 Service Requests  •  2022–2024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16.4M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Raw Records Fetched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10.4M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23160" y="17190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After Deduplication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196596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1.96M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7190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Clean Actionable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1234440"/>
            <a:ext cx="19659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26187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0840" y="171907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Data Fields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37744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4572000" y="2331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Top Request Types (2022–2024)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0" y="27432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Aircraft Noise Complaint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0" y="2907792"/>
            <a:ext cx="2731008" cy="12801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48728" y="288950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2925K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572000" y="30723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Graffiti Removal Request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0" y="3236976"/>
            <a:ext cx="780288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8008" y="321868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830K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0" y="340156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Pothole In Street Complaint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0" y="3566160"/>
            <a:ext cx="458419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6139" y="3547872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489K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0" y="373075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Rodent Baiting/Rat Complaint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0" y="3895344"/>
            <a:ext cx="409651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7371" y="3877056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434K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572000" y="40599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Garbage Cart Maintenance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0" y="4224528"/>
            <a:ext cx="390144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07864" y="4206240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421K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4572000" y="4389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Abandoned Vehicle Complaint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572000" y="4553712"/>
            <a:ext cx="390144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07864" y="4535424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418K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0" y="4718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Street Light Out Complaint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0" y="4882896"/>
            <a:ext cx="35113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68850" y="486460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376K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</a:rPr>
              <a:t>From raw API data to clean analytical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Fetched via Socrata API in 50K-row chunks. Total: 10.4M records, 37 columns. Saved to CSV incrementally.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1148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2316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871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487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Deduplication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8803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Removed 5.67M duplicate rows (34.7%). Deduplicated on sr_number as unique key.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41148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1188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758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 Filtering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06908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Dropped 5.9M information-only requests (e.g. Aircraft Noise). Retained 1.96M actionable service records.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234440"/>
            <a:ext cx="41148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23444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29844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59552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169164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Parsed timestamps. Computed resolution_days, year/month/hour features, is_open flag.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423160"/>
            <a:ext cx="41148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23160"/>
            <a:ext cx="54864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4871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59552" y="2487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Standardization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2880360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Normalized sr_type, status text. Joined ACS ward income &amp; demographic data for equity analysis.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657600"/>
            <a:ext cx="411480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703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 Final Dataset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40416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</a:rPr>
              <a:t>1,964,716 rows  ·  46 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CFDF5"/>
                </a:solidFill>
              </a:rPr>
              <a:t>Date range: Jan 2022 – Dec 2024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Analysis: Resolution Times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0.8 days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Median Resolution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(All Types)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9611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15.7 days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2316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Mean Resolution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(All Types)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9611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23.5 days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Pothole Mean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Resolution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686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9611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72.9%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0840" y="14173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Resolved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Within 7 Days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74320" y="201168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852160" y="2011680"/>
            <a:ext cx="3017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52160" y="2011680"/>
            <a:ext cx="54864" cy="2834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08483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Key Insights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89320" y="251460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Heavily right-skewed distribution — median much faster than mean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Potholes take 23.5 days mean vs 1.7 days for dead animal pickup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Tree removal (144 days mean) drives the worst performance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Pothole complaints rank #3 by volume — 87,563 resolved records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Only 51.3% of potholes resolved within 7 days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Analysis: Income vs Wait 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ACS 2023 Ward-Level Income Data  ×  311 Median Resolution Days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188720"/>
            <a:ext cx="4023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</a:rPr>
              <a:t>Correlation: Income ↔ Wait Time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37760" y="15361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 = −0.465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675120" y="157276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Moderate negative correlation: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Higher income → faster service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846320" y="23774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377440"/>
            <a:ext cx="45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2432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Low-Income Wards Wait Longer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983480" y="272491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Q1 wards (median income &lt;$72K) wait 4.97 days vs 2.63 days for Q3 wards — nearly 2× longer.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46320" y="324612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3246120"/>
            <a:ext cx="45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3300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Geographic Disparity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983480" y="35935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Community area 32 (lowest income) sees 0.94-day median; area 15 (higher income) sees 3.81 days — complex pattern.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41148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4114800"/>
            <a:ext cx="457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4169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Ward-Level ACS Integration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983480" y="4462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 joined 50 ACS wards with 311 resolution data. Race percentages also analyzed: r(Black%) = +0.3 (slight positive).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City Comparison: Chicago vs New York City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</a:rPr>
              <a:t>2024 pothole/street condition requests — matched categories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Metric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188720"/>
            <a:ext cx="22860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C5FD"/>
                </a:solidFill>
              </a:rPr>
              <a:t>🏙️ Chicago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2286000" cy="384048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88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🗽 New York City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8595360" cy="429768"/>
          </a:xfrm>
          <a:prstGeom prst="rect">
            <a:avLst/>
          </a:prstGeom>
          <a:solidFill>
            <a:srgbClr val="1A2637"/>
          </a:solidFill>
          <a:ln w="12700">
            <a:solidFill>
              <a:srgbClr val="1A26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27632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Median Resolution (days)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31720" y="1627632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6.8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627632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1.1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162763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E7B7"/>
                </a:solidFill>
              </a:rPr>
              <a:t>NYC faster 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8595360" cy="429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03120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Mean Resolution (days)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31720" y="2103120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26.3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3.0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210312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E7B7"/>
                </a:solidFill>
              </a:rPr>
              <a:t>NYC faster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8595360" cy="429768"/>
          </a:xfrm>
          <a:prstGeom prst="rect">
            <a:avLst/>
          </a:prstGeom>
          <a:solidFill>
            <a:srgbClr val="1A2637"/>
          </a:solidFill>
          <a:ln w="12700">
            <a:solidFill>
              <a:srgbClr val="1A26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578608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Resolved within 7 days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31720" y="2578608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51.3%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578608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90.5%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578608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E7B7"/>
                </a:solidFill>
              </a:rPr>
              <a:t>NYC faster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54096"/>
            <a:ext cx="8595360" cy="429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54096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Pothole Requests (dataset)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31720" y="305409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102,806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305409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65,557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529584"/>
            <a:ext cx="8595360" cy="429768"/>
          </a:xfrm>
          <a:prstGeom prst="rect">
            <a:avLst/>
          </a:prstGeom>
          <a:solidFill>
            <a:srgbClr val="1A2637"/>
          </a:solidFill>
          <a:ln w="12700">
            <a:solidFill>
              <a:srgbClr val="1A26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29584"/>
            <a:ext cx="19202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Avg Est. Cost/Request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31720" y="3529584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A5A5"/>
                </a:solidFill>
              </a:rPr>
              <a:t>$4,536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3529584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$3,655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95160" y="352958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E7B7"/>
                </a:solidFill>
              </a:rPr>
              <a:t>NYC faster →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160520"/>
            <a:ext cx="859536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4160520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CD34D"/>
                </a:solidFill>
              </a:rPr>
              <a:t>Notable: Abandoned Vehicle Complaints — Chicago median 12.5 days vs NYC 0.1 days (125× slower)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Pothole Cost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Estimated vehicle damage cost from delayed repairs  •  AAA-based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500 cars/day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3619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avg daily traffic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per pothole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1965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0.1%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153619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damage prob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per car-day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1965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$500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53619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avg driver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repair cost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1143000"/>
            <a:ext cx="196596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17043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102,806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153619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pothole requests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</a:rPr>
              <a:t>2022–2024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10312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394960" y="2103120"/>
            <a:ext cx="347472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21671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💸  3-Year Savings Potential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32120" y="253288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$136.2M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3212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if Chicago matched NYC's pothole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response time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394960" y="3703320"/>
            <a:ext cx="3474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4960" y="3703320"/>
            <a:ext cx="45720" cy="3931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32120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$45.4M/yr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858000" y="3785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Annual savings at NYC pace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394960" y="4160520"/>
            <a:ext cx="3474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94960" y="4160520"/>
            <a:ext cx="45720" cy="3931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41879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$8.6M/yr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0" y="42428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Saved per 1-day faster response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394960" y="4617720"/>
            <a:ext cx="3474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94960" y="4617720"/>
            <a:ext cx="45720" cy="3931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32120" y="46451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78%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858000" y="47000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Cost reduction vs current pace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Pothole Response Dashboard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41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488,692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Total Pothole Requests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(2022–2024)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#3 most reported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941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6.8 days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23160" y="13898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Chicago Median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Resolution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6916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vs 1.1 days NYC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41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51.3%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13898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% Resolved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Within 7 Days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16916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NYC: 90.5%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20840" y="91440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94183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</a:rPr>
              <a:t>$174.8M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20840" y="13898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Estimated 3-Year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Vehicle Damage Cost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69164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Chicago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4160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148840"/>
            <a:ext cx="54864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12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01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221284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 48-Hour Pothole SLA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2587752"/>
            <a:ext cx="3913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Implement a formal 48-hour service-level agreement for pothole repairs. NYC achieves 1.1-day median — Chicago's 6.8 days is operationally achievable.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148840"/>
            <a:ext cx="4160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14884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12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02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221284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Prioritize Low-Income Wards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587752"/>
            <a:ext cx="3913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Income-wait correlation (r = −0.465) confirms equity gap. Allocate additional repair crews to Q1 income wards, targeting 4+ day median reduction.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474720"/>
            <a:ext cx="4160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38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03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68680" y="353872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Invest in Predictive Repair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913632"/>
            <a:ext cx="3913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 311 geographic data + seasonal patterns to pre-emptively dispatch crews before complaints peak (spring thaw = +40% volume).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474720"/>
            <a:ext cx="416052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474720"/>
            <a:ext cx="54864" cy="1188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53872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</a:rPr>
              <a:t>04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03520" y="353872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Track Cost Savings as ROI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3913632"/>
            <a:ext cx="39136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Each 1-day improvement in median response time = ~$8.6M/yr in avoided vehicle damage. Present infrastructure investment in ROI terms.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MSDS 420 Final Project  •  Northwestern University  •  Sheng, Nadia &amp; Dawson  •  Data: Chicago 311 Portal 2022–2024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311 Service Analysis – Pothole Focus</dc:title>
  <dc:subject>PptxGenJS Presentation</dc:subject>
  <dc:creator>PptxGenJS</dc:creator>
  <cp:lastModifiedBy>PptxGenJS</cp:lastModifiedBy>
  <cp:revision>1</cp:revision>
  <dcterms:created xsi:type="dcterms:W3CDTF">2026-03-07T23:39:44Z</dcterms:created>
  <dcterms:modified xsi:type="dcterms:W3CDTF">2026-03-07T23:39:44Z</dcterms:modified>
</cp:coreProperties>
</file>